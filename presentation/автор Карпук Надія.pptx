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Canva Sans Bold" charset="1" panose="020B0803030501040103"/>
      <p:regular r:id="rId23"/>
    </p:embeddedFont>
    <p:embeddedFont>
      <p:font typeface="Gulfs Display" charset="1" panose="00000500000000000000"/>
      <p:regular r:id="rId24"/>
    </p:embeddedFont>
    <p:embeddedFont>
      <p:font typeface="Canva Sans" charset="1" panose="020B0503030501040103"/>
      <p:regular r:id="rId25"/>
    </p:embeddedFont>
    <p:embeddedFont>
      <p:font typeface="Yeseva One" charset="1" panose="00000500000000000000"/>
      <p:regular r:id="rId26"/>
    </p:embeddedFont>
    <p:embeddedFont>
      <p:font typeface="Alegreya Sans" charset="1" panose="00000500000000000000"/>
      <p:regular r:id="rId27"/>
    </p:embeddedFont>
    <p:embeddedFont>
      <p:font typeface="Alegreya Sans Bold" charset="1" panose="0000080000000000000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jpeg" Type="http://schemas.openxmlformats.org/officeDocument/2006/relationships/image"/><Relationship Id="rId4" Target="../media/image7.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1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5.jpeg" Type="http://schemas.openxmlformats.org/officeDocument/2006/relationships/image"/><Relationship Id="rId4" Target="../media/image16.jpeg" Type="http://schemas.openxmlformats.org/officeDocument/2006/relationships/image"/><Relationship Id="rId5" Target="../media/image6.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EDCF"/>
        </a:solidFill>
      </p:bgPr>
    </p:bg>
    <p:spTree>
      <p:nvGrpSpPr>
        <p:cNvPr id="1" name=""/>
        <p:cNvGrpSpPr/>
        <p:nvPr/>
      </p:nvGrpSpPr>
      <p:grpSpPr>
        <a:xfrm>
          <a:off x="0" y="0"/>
          <a:ext cx="0" cy="0"/>
          <a:chOff x="0" y="0"/>
          <a:chExt cx="0" cy="0"/>
        </a:xfrm>
      </p:grpSpPr>
      <p:grpSp>
        <p:nvGrpSpPr>
          <p:cNvPr name="Group 2" id="2"/>
          <p:cNvGrpSpPr/>
          <p:nvPr/>
        </p:nvGrpSpPr>
        <p:grpSpPr>
          <a:xfrm rot="-8735756">
            <a:off x="-220893" y="4821467"/>
            <a:ext cx="4319412" cy="8036007"/>
            <a:chOff x="0" y="0"/>
            <a:chExt cx="660400" cy="1228634"/>
          </a:xfrm>
        </p:grpSpPr>
        <p:sp>
          <p:nvSpPr>
            <p:cNvPr name="Freeform 3" id="3"/>
            <p:cNvSpPr/>
            <p:nvPr/>
          </p:nvSpPr>
          <p:spPr>
            <a:xfrm flipH="false" flipV="false" rot="0">
              <a:off x="0" y="0"/>
              <a:ext cx="660400" cy="1228634"/>
            </a:xfrm>
            <a:custGeom>
              <a:avLst/>
              <a:gdLst/>
              <a:ahLst/>
              <a:cxnLst/>
              <a:rect r="r" b="b" t="t" l="l"/>
              <a:pathLst>
                <a:path h="1228634" w="660400">
                  <a:moveTo>
                    <a:pt x="220252" y="1209565"/>
                  </a:moveTo>
                  <a:cubicBezTo>
                    <a:pt x="254109" y="1221079"/>
                    <a:pt x="292600" y="1228634"/>
                    <a:pt x="330378" y="1228634"/>
                  </a:cubicBezTo>
                  <a:cubicBezTo>
                    <a:pt x="368157" y="1228634"/>
                    <a:pt x="404509" y="1222157"/>
                    <a:pt x="438009" y="1210644"/>
                  </a:cubicBezTo>
                  <a:cubicBezTo>
                    <a:pt x="438723" y="1210284"/>
                    <a:pt x="439435" y="1210284"/>
                    <a:pt x="440148" y="1209925"/>
                  </a:cubicBezTo>
                  <a:cubicBezTo>
                    <a:pt x="565955" y="1163869"/>
                    <a:pt x="658618" y="1042256"/>
                    <a:pt x="660400" y="890896"/>
                  </a:cubicBezTo>
                  <a:lnTo>
                    <a:pt x="660400" y="0"/>
                  </a:lnTo>
                  <a:lnTo>
                    <a:pt x="0" y="0"/>
                  </a:lnTo>
                  <a:lnTo>
                    <a:pt x="0" y="890234"/>
                  </a:lnTo>
                  <a:cubicBezTo>
                    <a:pt x="1782" y="1042974"/>
                    <a:pt x="93019" y="1164590"/>
                    <a:pt x="220252" y="1209565"/>
                  </a:cubicBezTo>
                  <a:close/>
                </a:path>
              </a:pathLst>
            </a:custGeom>
            <a:solidFill>
              <a:srgbClr val="FA5733"/>
            </a:solidFill>
            <a:ln w="57150" cap="sq">
              <a:solidFill>
                <a:srgbClr val="000000"/>
              </a:solidFill>
              <a:prstDash val="solid"/>
              <a:miter/>
            </a:ln>
          </p:spPr>
        </p:sp>
        <p:sp>
          <p:nvSpPr>
            <p:cNvPr name="TextBox 4" id="4"/>
            <p:cNvSpPr txBox="true"/>
            <p:nvPr/>
          </p:nvSpPr>
          <p:spPr>
            <a:xfrm>
              <a:off x="0" y="-38100"/>
              <a:ext cx="660400" cy="1139734"/>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2917845">
            <a:off x="15651225" y="128040"/>
            <a:ext cx="4319412" cy="10281325"/>
            <a:chOff x="0" y="0"/>
            <a:chExt cx="660400" cy="1571924"/>
          </a:xfrm>
        </p:grpSpPr>
        <p:sp>
          <p:nvSpPr>
            <p:cNvPr name="Freeform 6" id="6"/>
            <p:cNvSpPr/>
            <p:nvPr/>
          </p:nvSpPr>
          <p:spPr>
            <a:xfrm flipH="false" flipV="false" rot="0">
              <a:off x="0" y="0"/>
              <a:ext cx="660400" cy="1571924"/>
            </a:xfrm>
            <a:custGeom>
              <a:avLst/>
              <a:gdLst/>
              <a:ahLst/>
              <a:cxnLst/>
              <a:rect r="r" b="b" t="t" l="l"/>
              <a:pathLst>
                <a:path h="1571924" w="660400">
                  <a:moveTo>
                    <a:pt x="220252" y="1552855"/>
                  </a:moveTo>
                  <a:cubicBezTo>
                    <a:pt x="254109" y="1564369"/>
                    <a:pt x="292600" y="1571924"/>
                    <a:pt x="330378" y="1571924"/>
                  </a:cubicBezTo>
                  <a:cubicBezTo>
                    <a:pt x="368157" y="1571924"/>
                    <a:pt x="404509" y="1565447"/>
                    <a:pt x="438009" y="1553933"/>
                  </a:cubicBezTo>
                  <a:cubicBezTo>
                    <a:pt x="438723" y="1553574"/>
                    <a:pt x="439435" y="1553574"/>
                    <a:pt x="440148" y="1553214"/>
                  </a:cubicBezTo>
                  <a:cubicBezTo>
                    <a:pt x="565955" y="1507159"/>
                    <a:pt x="658618" y="1385545"/>
                    <a:pt x="660400" y="1226560"/>
                  </a:cubicBezTo>
                  <a:lnTo>
                    <a:pt x="660400" y="0"/>
                  </a:lnTo>
                  <a:lnTo>
                    <a:pt x="0" y="0"/>
                  </a:lnTo>
                  <a:lnTo>
                    <a:pt x="0" y="1225649"/>
                  </a:lnTo>
                  <a:cubicBezTo>
                    <a:pt x="1782" y="1386264"/>
                    <a:pt x="93019" y="1507879"/>
                    <a:pt x="220252" y="1552855"/>
                  </a:cubicBezTo>
                  <a:close/>
                </a:path>
              </a:pathLst>
            </a:custGeom>
            <a:solidFill>
              <a:srgbClr val="FA5733"/>
            </a:solidFill>
            <a:ln w="57150" cap="sq">
              <a:solidFill>
                <a:srgbClr val="000000"/>
              </a:solidFill>
              <a:prstDash val="solid"/>
              <a:miter/>
            </a:ln>
          </p:spPr>
        </p:sp>
        <p:sp>
          <p:nvSpPr>
            <p:cNvPr name="TextBox 7" id="7"/>
            <p:cNvSpPr txBox="true"/>
            <p:nvPr/>
          </p:nvSpPr>
          <p:spPr>
            <a:xfrm>
              <a:off x="0" y="-38100"/>
              <a:ext cx="660400" cy="1483024"/>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028700" y="5468724"/>
            <a:ext cx="3789576" cy="378957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925" t="0" r="-925" b="0"/>
              </a:stretch>
            </a:blipFill>
          </p:spPr>
        </p:sp>
      </p:grpSp>
      <p:grpSp>
        <p:nvGrpSpPr>
          <p:cNvPr name="Group 10" id="10"/>
          <p:cNvGrpSpPr/>
          <p:nvPr/>
        </p:nvGrpSpPr>
        <p:grpSpPr>
          <a:xfrm rot="0">
            <a:off x="13746963" y="5268703"/>
            <a:ext cx="3789576" cy="3789576"/>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37469" t="-6013" r="-27752" b="-4203"/>
              </a:stretch>
            </a:blipFill>
          </p:spPr>
        </p:sp>
      </p:grpSp>
      <p:grpSp>
        <p:nvGrpSpPr>
          <p:cNvPr name="Group 12" id="12"/>
          <p:cNvGrpSpPr/>
          <p:nvPr/>
        </p:nvGrpSpPr>
        <p:grpSpPr>
          <a:xfrm rot="0">
            <a:off x="7063808" y="5500772"/>
            <a:ext cx="4160384" cy="875956"/>
            <a:chOff x="0" y="0"/>
            <a:chExt cx="1095739" cy="230704"/>
          </a:xfrm>
        </p:grpSpPr>
        <p:sp>
          <p:nvSpPr>
            <p:cNvPr name="Freeform 13" id="13"/>
            <p:cNvSpPr/>
            <p:nvPr/>
          </p:nvSpPr>
          <p:spPr>
            <a:xfrm flipH="false" flipV="false" rot="0">
              <a:off x="0" y="0"/>
              <a:ext cx="1095739" cy="230704"/>
            </a:xfrm>
            <a:custGeom>
              <a:avLst/>
              <a:gdLst/>
              <a:ahLst/>
              <a:cxnLst/>
              <a:rect r="r" b="b" t="t" l="l"/>
              <a:pathLst>
                <a:path h="230704" w="1095739">
                  <a:moveTo>
                    <a:pt x="94904" y="0"/>
                  </a:moveTo>
                  <a:lnTo>
                    <a:pt x="1000835" y="0"/>
                  </a:lnTo>
                  <a:cubicBezTo>
                    <a:pt x="1026005" y="0"/>
                    <a:pt x="1050144" y="9999"/>
                    <a:pt x="1067942" y="27797"/>
                  </a:cubicBezTo>
                  <a:cubicBezTo>
                    <a:pt x="1085740" y="45595"/>
                    <a:pt x="1095739" y="69734"/>
                    <a:pt x="1095739" y="94904"/>
                  </a:cubicBezTo>
                  <a:lnTo>
                    <a:pt x="1095739" y="135800"/>
                  </a:lnTo>
                  <a:cubicBezTo>
                    <a:pt x="1095739" y="160970"/>
                    <a:pt x="1085740" y="185110"/>
                    <a:pt x="1067942" y="202908"/>
                  </a:cubicBezTo>
                  <a:cubicBezTo>
                    <a:pt x="1050144" y="220706"/>
                    <a:pt x="1026005" y="230704"/>
                    <a:pt x="1000835" y="230704"/>
                  </a:cubicBezTo>
                  <a:lnTo>
                    <a:pt x="94904" y="230704"/>
                  </a:lnTo>
                  <a:cubicBezTo>
                    <a:pt x="69734" y="230704"/>
                    <a:pt x="45595" y="220706"/>
                    <a:pt x="27797" y="202908"/>
                  </a:cubicBezTo>
                  <a:cubicBezTo>
                    <a:pt x="9999" y="185110"/>
                    <a:pt x="0" y="160970"/>
                    <a:pt x="0" y="135800"/>
                  </a:cubicBezTo>
                  <a:lnTo>
                    <a:pt x="0" y="94904"/>
                  </a:lnTo>
                  <a:cubicBezTo>
                    <a:pt x="0" y="69734"/>
                    <a:pt x="9999" y="45595"/>
                    <a:pt x="27797" y="27797"/>
                  </a:cubicBezTo>
                  <a:cubicBezTo>
                    <a:pt x="45595" y="9999"/>
                    <a:pt x="69734" y="0"/>
                    <a:pt x="94904" y="0"/>
                  </a:cubicBezTo>
                  <a:close/>
                </a:path>
              </a:pathLst>
            </a:custGeom>
            <a:ln w="38100" cap="rnd">
              <a:solidFill>
                <a:srgbClr val="FA5733"/>
              </a:solidFill>
              <a:prstDash val="solid"/>
              <a:round/>
            </a:ln>
          </p:spPr>
        </p:sp>
        <p:sp>
          <p:nvSpPr>
            <p:cNvPr name="TextBox 14" id="14"/>
            <p:cNvSpPr txBox="true"/>
            <p:nvPr/>
          </p:nvSpPr>
          <p:spPr>
            <a:xfrm>
              <a:off x="0" y="-38100"/>
              <a:ext cx="1095739" cy="268804"/>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6940172" y="5749202"/>
            <a:ext cx="4407656" cy="363855"/>
          </a:xfrm>
          <a:prstGeom prst="rect">
            <a:avLst/>
          </a:prstGeom>
        </p:spPr>
        <p:txBody>
          <a:bodyPr anchor="t" rtlCol="false" tIns="0" lIns="0" bIns="0" rIns="0">
            <a:spAutoFit/>
          </a:bodyPr>
          <a:lstStyle/>
          <a:p>
            <a:pPr algn="ctr">
              <a:lnSpc>
                <a:spcPts val="2730"/>
              </a:lnSpc>
            </a:pPr>
            <a:r>
              <a:rPr lang="en-US" b="true" sz="2600">
                <a:solidFill>
                  <a:srgbClr val="FA5733"/>
                </a:solidFill>
                <a:latin typeface="Canva Sans Bold"/>
                <a:ea typeface="Canva Sans Bold"/>
                <a:cs typeface="Canva Sans Bold"/>
                <a:sym typeface="Canva Sans Bold"/>
              </a:rPr>
              <a:t>КУРС: DATA ANALYTICS</a:t>
            </a:r>
          </a:p>
        </p:txBody>
      </p:sp>
      <p:sp>
        <p:nvSpPr>
          <p:cNvPr name="Freeform 16" id="16"/>
          <p:cNvSpPr/>
          <p:nvPr/>
        </p:nvSpPr>
        <p:spPr>
          <a:xfrm flipH="false" flipV="false" rot="0">
            <a:off x="13597430" y="1082759"/>
            <a:ext cx="1748527" cy="1940113"/>
          </a:xfrm>
          <a:custGeom>
            <a:avLst/>
            <a:gdLst/>
            <a:ahLst/>
            <a:cxnLst/>
            <a:rect r="r" b="b" t="t" l="l"/>
            <a:pathLst>
              <a:path h="1940113" w="1748527">
                <a:moveTo>
                  <a:pt x="0" y="0"/>
                </a:moveTo>
                <a:lnTo>
                  <a:pt x="1748526" y="0"/>
                </a:lnTo>
                <a:lnTo>
                  <a:pt x="1748526" y="1940113"/>
                </a:lnTo>
                <a:lnTo>
                  <a:pt x="0" y="19401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7" id="17"/>
          <p:cNvSpPr txBox="true"/>
          <p:nvPr/>
        </p:nvSpPr>
        <p:spPr>
          <a:xfrm rot="0">
            <a:off x="1766795" y="1737999"/>
            <a:ext cx="14063487" cy="1604010"/>
          </a:xfrm>
          <a:prstGeom prst="rect">
            <a:avLst/>
          </a:prstGeom>
        </p:spPr>
        <p:txBody>
          <a:bodyPr anchor="t" rtlCol="false" tIns="0" lIns="0" bIns="0" rIns="0">
            <a:spAutoFit/>
          </a:bodyPr>
          <a:lstStyle/>
          <a:p>
            <a:pPr algn="ctr">
              <a:lnSpc>
                <a:spcPts val="3360"/>
              </a:lnSpc>
            </a:pPr>
          </a:p>
          <a:p>
            <a:pPr algn="ctr">
              <a:lnSpc>
                <a:spcPts val="5984"/>
              </a:lnSpc>
            </a:pPr>
            <a:r>
              <a:rPr lang="en-US" sz="5699">
                <a:solidFill>
                  <a:srgbClr val="C23415"/>
                </a:solidFill>
                <a:latin typeface="Gulfs Display"/>
                <a:ea typeface="Gulfs Display"/>
                <a:cs typeface="Gulfs Display"/>
                <a:sym typeface="Gulfs Display"/>
              </a:rPr>
              <a:t>АНАЛІЗ ПРОДАЖІВ ПІЦЕРІЇ</a:t>
            </a:r>
          </a:p>
          <a:p>
            <a:pPr algn="ctr">
              <a:lnSpc>
                <a:spcPts val="3360"/>
              </a:lnSpc>
            </a:pPr>
          </a:p>
        </p:txBody>
      </p:sp>
      <p:sp>
        <p:nvSpPr>
          <p:cNvPr name="Freeform 18" id="18"/>
          <p:cNvSpPr/>
          <p:nvPr/>
        </p:nvSpPr>
        <p:spPr>
          <a:xfrm flipH="true" flipV="false" rot="-220569">
            <a:off x="2397467" y="1082759"/>
            <a:ext cx="1748527" cy="1940113"/>
          </a:xfrm>
          <a:custGeom>
            <a:avLst/>
            <a:gdLst/>
            <a:ahLst/>
            <a:cxnLst/>
            <a:rect r="r" b="b" t="t" l="l"/>
            <a:pathLst>
              <a:path h="1940113" w="1748527">
                <a:moveTo>
                  <a:pt x="1748527" y="0"/>
                </a:moveTo>
                <a:lnTo>
                  <a:pt x="0" y="0"/>
                </a:lnTo>
                <a:lnTo>
                  <a:pt x="0" y="1940113"/>
                </a:lnTo>
                <a:lnTo>
                  <a:pt x="1748527" y="1940113"/>
                </a:lnTo>
                <a:lnTo>
                  <a:pt x="1748527"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9" id="19"/>
          <p:cNvSpPr txBox="true"/>
          <p:nvPr/>
        </p:nvSpPr>
        <p:spPr>
          <a:xfrm rot="0">
            <a:off x="4616767" y="8868046"/>
            <a:ext cx="4407656" cy="363855"/>
          </a:xfrm>
          <a:prstGeom prst="rect">
            <a:avLst/>
          </a:prstGeom>
        </p:spPr>
        <p:txBody>
          <a:bodyPr anchor="t" rtlCol="false" tIns="0" lIns="0" bIns="0" rIns="0">
            <a:spAutoFit/>
          </a:bodyPr>
          <a:lstStyle/>
          <a:p>
            <a:pPr algn="ctr">
              <a:lnSpc>
                <a:spcPts val="2730"/>
              </a:lnSpc>
            </a:pPr>
            <a:r>
              <a:rPr lang="en-US" b="true" sz="2600">
                <a:solidFill>
                  <a:srgbClr val="FA5733"/>
                </a:solidFill>
                <a:latin typeface="Canva Sans Bold"/>
                <a:ea typeface="Canva Sans Bold"/>
                <a:cs typeface="Canva Sans Bold"/>
                <a:sym typeface="Canva Sans Bold"/>
              </a:rPr>
              <a:t>АВТОР: НАДІЯ КАРПУК</a:t>
            </a:r>
          </a:p>
        </p:txBody>
      </p:sp>
      <p:sp>
        <p:nvSpPr>
          <p:cNvPr name="TextBox 20" id="20"/>
          <p:cNvSpPr txBox="true"/>
          <p:nvPr/>
        </p:nvSpPr>
        <p:spPr>
          <a:xfrm rot="0">
            <a:off x="4616767" y="9461868"/>
            <a:ext cx="4407656" cy="363855"/>
          </a:xfrm>
          <a:prstGeom prst="rect">
            <a:avLst/>
          </a:prstGeom>
        </p:spPr>
        <p:txBody>
          <a:bodyPr anchor="t" rtlCol="false" tIns="0" lIns="0" bIns="0" rIns="0">
            <a:spAutoFit/>
          </a:bodyPr>
          <a:lstStyle/>
          <a:p>
            <a:pPr algn="ctr">
              <a:lnSpc>
                <a:spcPts val="2730"/>
              </a:lnSpc>
            </a:pPr>
            <a:r>
              <a:rPr lang="en-US" b="true" sz="2600">
                <a:solidFill>
                  <a:srgbClr val="FA5733"/>
                </a:solidFill>
                <a:latin typeface="Canva Sans Bold"/>
                <a:ea typeface="Canva Sans Bold"/>
                <a:cs typeface="Canva Sans Bold"/>
                <a:sym typeface="Canva Sans Bold"/>
              </a:rPr>
              <a:t>ДАТА: 02.10.2026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EDCF"/>
        </a:solidFill>
      </p:bgPr>
    </p:bg>
    <p:spTree>
      <p:nvGrpSpPr>
        <p:cNvPr id="1" name=""/>
        <p:cNvGrpSpPr/>
        <p:nvPr/>
      </p:nvGrpSpPr>
      <p:grpSpPr>
        <a:xfrm>
          <a:off x="0" y="0"/>
          <a:ext cx="0" cy="0"/>
          <a:chOff x="0" y="0"/>
          <a:chExt cx="0" cy="0"/>
        </a:xfrm>
      </p:grpSpPr>
      <p:grpSp>
        <p:nvGrpSpPr>
          <p:cNvPr name="Group 2" id="2"/>
          <p:cNvGrpSpPr/>
          <p:nvPr/>
        </p:nvGrpSpPr>
        <p:grpSpPr>
          <a:xfrm rot="-5400000">
            <a:off x="2341182" y="843292"/>
            <a:ext cx="4319412" cy="9286224"/>
            <a:chOff x="0" y="0"/>
            <a:chExt cx="660400" cy="1419782"/>
          </a:xfrm>
        </p:grpSpPr>
        <p:sp>
          <p:nvSpPr>
            <p:cNvPr name="Freeform 3" id="3"/>
            <p:cNvSpPr/>
            <p:nvPr/>
          </p:nvSpPr>
          <p:spPr>
            <a:xfrm flipH="false" flipV="false" rot="0">
              <a:off x="0" y="0"/>
              <a:ext cx="660400" cy="1419782"/>
            </a:xfrm>
            <a:custGeom>
              <a:avLst/>
              <a:gdLst/>
              <a:ahLst/>
              <a:cxnLst/>
              <a:rect r="r" b="b" t="t" l="l"/>
              <a:pathLst>
                <a:path h="1419782" w="660400">
                  <a:moveTo>
                    <a:pt x="220252" y="1400713"/>
                  </a:moveTo>
                  <a:cubicBezTo>
                    <a:pt x="254109" y="1412226"/>
                    <a:pt x="292600" y="1419782"/>
                    <a:pt x="330378" y="1419782"/>
                  </a:cubicBezTo>
                  <a:cubicBezTo>
                    <a:pt x="368157" y="1419782"/>
                    <a:pt x="404509" y="1413305"/>
                    <a:pt x="438009" y="1401791"/>
                  </a:cubicBezTo>
                  <a:cubicBezTo>
                    <a:pt x="438723" y="1401431"/>
                    <a:pt x="439435" y="1401431"/>
                    <a:pt x="440148" y="1401072"/>
                  </a:cubicBezTo>
                  <a:cubicBezTo>
                    <a:pt x="565955" y="1355017"/>
                    <a:pt x="658618" y="1233403"/>
                    <a:pt x="660400" y="1077797"/>
                  </a:cubicBezTo>
                  <a:lnTo>
                    <a:pt x="660400" y="0"/>
                  </a:lnTo>
                  <a:lnTo>
                    <a:pt x="0" y="0"/>
                  </a:lnTo>
                  <a:lnTo>
                    <a:pt x="0" y="1076997"/>
                  </a:lnTo>
                  <a:cubicBezTo>
                    <a:pt x="1782" y="1234122"/>
                    <a:pt x="93019" y="1355737"/>
                    <a:pt x="220252" y="1400713"/>
                  </a:cubicBezTo>
                  <a:close/>
                </a:path>
              </a:pathLst>
            </a:custGeom>
            <a:solidFill>
              <a:srgbClr val="FA5733"/>
            </a:solidFill>
            <a:ln w="57150" cap="sq">
              <a:solidFill>
                <a:srgbClr val="000000"/>
              </a:solidFill>
              <a:prstDash val="solid"/>
              <a:miter/>
            </a:ln>
          </p:spPr>
        </p:sp>
        <p:sp>
          <p:nvSpPr>
            <p:cNvPr name="TextBox 4" id="4"/>
            <p:cNvSpPr txBox="true"/>
            <p:nvPr/>
          </p:nvSpPr>
          <p:spPr>
            <a:xfrm>
              <a:off x="0" y="-38100"/>
              <a:ext cx="660400" cy="1330882"/>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000294" y="3591616"/>
            <a:ext cx="3789576" cy="378957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25000" t="0" r="-25000" b="0"/>
              </a:stretch>
            </a:blipFill>
          </p:spPr>
        </p:sp>
      </p:grpSp>
      <p:grpSp>
        <p:nvGrpSpPr>
          <p:cNvPr name="Group 7" id="7"/>
          <p:cNvGrpSpPr/>
          <p:nvPr/>
        </p:nvGrpSpPr>
        <p:grpSpPr>
          <a:xfrm rot="0">
            <a:off x="1808526" y="4317297"/>
            <a:ext cx="2357198" cy="2357198"/>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0" t="-16585" r="0" b="-16585"/>
              </a:stretch>
            </a:blipFill>
          </p:spPr>
        </p:sp>
      </p:grpSp>
      <p:grpSp>
        <p:nvGrpSpPr>
          <p:cNvPr name="Group 9" id="9"/>
          <p:cNvGrpSpPr/>
          <p:nvPr/>
        </p:nvGrpSpPr>
        <p:grpSpPr>
          <a:xfrm rot="0">
            <a:off x="-717405" y="4557384"/>
            <a:ext cx="1877026" cy="187702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16747" r="0" b="-16747"/>
              </a:stretch>
            </a:blipFill>
          </p:spPr>
        </p:sp>
      </p:grpSp>
      <p:sp>
        <p:nvSpPr>
          <p:cNvPr name="TextBox 11" id="11"/>
          <p:cNvSpPr txBox="true"/>
          <p:nvPr/>
        </p:nvSpPr>
        <p:spPr>
          <a:xfrm rot="0">
            <a:off x="221108" y="76200"/>
            <a:ext cx="18066892" cy="1679618"/>
          </a:xfrm>
          <a:prstGeom prst="rect">
            <a:avLst/>
          </a:prstGeom>
        </p:spPr>
        <p:txBody>
          <a:bodyPr anchor="t" rtlCol="false" tIns="0" lIns="0" bIns="0" rIns="0">
            <a:spAutoFit/>
          </a:bodyPr>
          <a:lstStyle/>
          <a:p>
            <a:pPr algn="ctr">
              <a:lnSpc>
                <a:spcPts val="5298"/>
              </a:lnSpc>
            </a:pPr>
            <a:r>
              <a:rPr lang="en-US" sz="5046">
                <a:solidFill>
                  <a:srgbClr val="823C12"/>
                </a:solidFill>
                <a:latin typeface="Gulfs Display"/>
                <a:ea typeface="Gulfs Display"/>
                <a:cs typeface="Gulfs Display"/>
                <a:sym typeface="Gulfs Display"/>
              </a:rPr>
              <a:t>СИТУАЦІЯ     ТА     КЛЮЧОВІ ПИТАННЯ</a:t>
            </a:r>
          </a:p>
          <a:p>
            <a:pPr algn="l">
              <a:lnSpc>
                <a:spcPts val="7656"/>
              </a:lnSpc>
            </a:pPr>
          </a:p>
        </p:txBody>
      </p:sp>
      <p:sp>
        <p:nvSpPr>
          <p:cNvPr name="TextBox 12" id="12"/>
          <p:cNvSpPr txBox="true"/>
          <p:nvPr/>
        </p:nvSpPr>
        <p:spPr>
          <a:xfrm rot="0">
            <a:off x="100615" y="1567746"/>
            <a:ext cx="7816500" cy="2414271"/>
          </a:xfrm>
          <a:prstGeom prst="rect">
            <a:avLst/>
          </a:prstGeom>
        </p:spPr>
        <p:txBody>
          <a:bodyPr anchor="t" rtlCol="false" tIns="0" lIns="0" bIns="0" rIns="0">
            <a:spAutoFit/>
          </a:bodyPr>
          <a:lstStyle/>
          <a:p>
            <a:pPr algn="l">
              <a:lnSpc>
                <a:spcPts val="2659"/>
              </a:lnSpc>
            </a:pPr>
            <a:r>
              <a:rPr lang="en-US" sz="1899">
                <a:solidFill>
                  <a:srgbClr val="000000"/>
                </a:solidFill>
                <a:latin typeface="Canva Sans"/>
                <a:ea typeface="Canva Sans"/>
                <a:cs typeface="Canva Sans"/>
                <a:sym typeface="Canva Sans"/>
              </a:rPr>
              <a:t>Піцерія в Нью-Джерсі із касовими даними за 2015 рік, які містять детальну інформацію про кожне замовлення. Наше завдання оцінити поточну ситуацію, які є обмеження та проблеми. </a:t>
            </a:r>
          </a:p>
          <a:p>
            <a:pPr algn="l">
              <a:lnSpc>
                <a:spcPts val="2659"/>
              </a:lnSpc>
            </a:pPr>
            <a:r>
              <a:rPr lang="en-US" sz="1899">
                <a:solidFill>
                  <a:srgbClr val="000000"/>
                </a:solidFill>
                <a:latin typeface="Canva Sans"/>
                <a:ea typeface="Canva Sans"/>
                <a:cs typeface="Canva Sans"/>
                <a:sym typeface="Canva Sans"/>
              </a:rPr>
              <a:t>Наша ціль ухвалити три конкретні рішення для оптимізації витрат і підвищення доходів.</a:t>
            </a:r>
          </a:p>
          <a:p>
            <a:pPr algn="l">
              <a:lnSpc>
                <a:spcPts val="6299"/>
              </a:lnSpc>
              <a:spcBef>
                <a:spcPct val="0"/>
              </a:spcBef>
            </a:pPr>
          </a:p>
        </p:txBody>
      </p:sp>
      <p:sp>
        <p:nvSpPr>
          <p:cNvPr name="TextBox 13" id="13"/>
          <p:cNvSpPr txBox="true"/>
          <p:nvPr/>
        </p:nvSpPr>
        <p:spPr>
          <a:xfrm rot="0">
            <a:off x="13559" y="1076325"/>
            <a:ext cx="5947131" cy="409575"/>
          </a:xfrm>
          <a:prstGeom prst="rect">
            <a:avLst/>
          </a:prstGeom>
        </p:spPr>
        <p:txBody>
          <a:bodyPr anchor="t" rtlCol="false" tIns="0" lIns="0" bIns="0" rIns="0">
            <a:spAutoFit/>
          </a:bodyPr>
          <a:lstStyle/>
          <a:p>
            <a:pPr algn="l">
              <a:lnSpc>
                <a:spcPts val="3150"/>
              </a:lnSpc>
            </a:pPr>
            <a:r>
              <a:rPr lang="en-US" sz="3000">
                <a:solidFill>
                  <a:srgbClr val="000000"/>
                </a:solidFill>
                <a:latin typeface="Canva Sans"/>
                <a:ea typeface="Canva Sans"/>
                <a:cs typeface="Canva Sans"/>
                <a:sym typeface="Canva Sans"/>
              </a:rPr>
              <a:t>Ситуація:</a:t>
            </a:r>
          </a:p>
        </p:txBody>
      </p:sp>
      <p:sp>
        <p:nvSpPr>
          <p:cNvPr name="TextBox 14" id="14"/>
          <p:cNvSpPr txBox="true"/>
          <p:nvPr/>
        </p:nvSpPr>
        <p:spPr>
          <a:xfrm rot="0">
            <a:off x="9442800" y="2346380"/>
            <a:ext cx="7816500" cy="7459346"/>
          </a:xfrm>
          <a:prstGeom prst="rect">
            <a:avLst/>
          </a:prstGeom>
        </p:spPr>
        <p:txBody>
          <a:bodyPr anchor="t" rtlCol="false" tIns="0" lIns="0" bIns="0" rIns="0">
            <a:spAutoFit/>
          </a:bodyPr>
          <a:lstStyle/>
          <a:p>
            <a:pPr algn="l" marL="604513" indent="-302256" lvl="1">
              <a:lnSpc>
                <a:spcPts val="3919"/>
              </a:lnSpc>
              <a:buAutoNum type="arabicPeriod" startAt="1"/>
            </a:pPr>
            <a:r>
              <a:rPr lang="en-US" sz="2799">
                <a:solidFill>
                  <a:srgbClr val="000000"/>
                </a:solidFill>
                <a:latin typeface="Canva Sans"/>
                <a:ea typeface="Canva Sans"/>
                <a:cs typeface="Canva Sans"/>
                <a:sym typeface="Canva Sans"/>
              </a:rPr>
              <a:t>Основні KPI продажів.</a:t>
            </a:r>
          </a:p>
          <a:p>
            <a:pPr algn="l" marL="604513" indent="-302256" lvl="1">
              <a:lnSpc>
                <a:spcPts val="3919"/>
              </a:lnSpc>
              <a:buAutoNum type="arabicPeriod" startAt="1"/>
            </a:pPr>
            <a:r>
              <a:rPr lang="en-US" sz="2799">
                <a:solidFill>
                  <a:srgbClr val="000000"/>
                </a:solidFill>
                <a:latin typeface="Canva Sans"/>
                <a:ea typeface="Canva Sans"/>
                <a:cs typeface="Canva Sans"/>
                <a:sym typeface="Canva Sans"/>
              </a:rPr>
              <a:t>Аналіз щомісячної сезонності виручки та    транзакцій.</a:t>
            </a:r>
          </a:p>
          <a:p>
            <a:pPr algn="l" marL="604513" indent="-302256" lvl="1">
              <a:lnSpc>
                <a:spcPts val="3919"/>
              </a:lnSpc>
              <a:buAutoNum type="arabicPeriod" startAt="1"/>
            </a:pPr>
            <a:r>
              <a:rPr lang="en-US" sz="2799">
                <a:solidFill>
                  <a:srgbClr val="000000"/>
                </a:solidFill>
                <a:latin typeface="Canva Sans"/>
                <a:ea typeface="Canva Sans"/>
                <a:cs typeface="Canva Sans"/>
                <a:sym typeface="Canva Sans"/>
              </a:rPr>
              <a:t>Аналіз погодинної та щоденної інтенсивності замовлень.</a:t>
            </a:r>
          </a:p>
          <a:p>
            <a:pPr algn="l" marL="604513" indent="-302256" lvl="1">
              <a:lnSpc>
                <a:spcPts val="3919"/>
              </a:lnSpc>
              <a:buAutoNum type="arabicPeriod" startAt="1"/>
            </a:pPr>
            <a:r>
              <a:rPr lang="en-US" sz="2799">
                <a:solidFill>
                  <a:srgbClr val="000000"/>
                </a:solidFill>
                <a:latin typeface="Canva Sans"/>
                <a:ea typeface="Canva Sans"/>
                <a:cs typeface="Canva Sans"/>
                <a:sym typeface="Canva Sans"/>
              </a:rPr>
              <a:t>Аналіз лідерів та аутсайдерів продажів.</a:t>
            </a:r>
          </a:p>
          <a:p>
            <a:pPr algn="l" marL="604513" indent="-302256" lvl="1">
              <a:lnSpc>
                <a:spcPts val="3919"/>
              </a:lnSpc>
              <a:buAutoNum type="arabicPeriod" startAt="1"/>
            </a:pPr>
            <a:r>
              <a:rPr lang="en-US" sz="2799">
                <a:solidFill>
                  <a:srgbClr val="000000"/>
                </a:solidFill>
                <a:latin typeface="Canva Sans"/>
                <a:ea typeface="Canva Sans"/>
                <a:cs typeface="Canva Sans"/>
                <a:sym typeface="Canva Sans"/>
              </a:rPr>
              <a:t>Аналіз структури продажів за категоріями та розмірами.</a:t>
            </a:r>
          </a:p>
          <a:p>
            <a:pPr algn="l" marL="604513" indent="-302256" lvl="1">
              <a:lnSpc>
                <a:spcPts val="3919"/>
              </a:lnSpc>
              <a:buAutoNum type="arabicPeriod" startAt="1"/>
            </a:pPr>
            <a:r>
              <a:rPr lang="en-US" sz="2799">
                <a:solidFill>
                  <a:srgbClr val="000000"/>
                </a:solidFill>
                <a:latin typeface="Canva Sans"/>
                <a:ea typeface="Canva Sans"/>
                <a:cs typeface="Canva Sans"/>
                <a:sym typeface="Canva Sans"/>
              </a:rPr>
              <a:t>Оптимізація меню: кандидати на вилучення.</a:t>
            </a:r>
          </a:p>
          <a:p>
            <a:pPr algn="l" marL="604513" indent="-302256" lvl="1">
              <a:lnSpc>
                <a:spcPts val="3919"/>
              </a:lnSpc>
              <a:buAutoNum type="arabicPeriod" startAt="1"/>
            </a:pPr>
            <a:r>
              <a:rPr lang="en-US" sz="2799">
                <a:solidFill>
                  <a:srgbClr val="000000"/>
                </a:solidFill>
                <a:latin typeface="Canva Sans"/>
                <a:ea typeface="Canva Sans"/>
                <a:cs typeface="Canva Sans"/>
                <a:sym typeface="Canva Sans"/>
              </a:rPr>
              <a:t>Аналіз великих замовлень та потенціал корпоративного сегмента.</a:t>
            </a:r>
          </a:p>
          <a:p>
            <a:pPr algn="l" marL="604513" indent="-302256" lvl="1">
              <a:lnSpc>
                <a:spcPts val="3919"/>
              </a:lnSpc>
              <a:buAutoNum type="arabicPeriod" startAt="1"/>
            </a:pPr>
            <a:r>
              <a:rPr lang="en-US" sz="2799">
                <a:solidFill>
                  <a:srgbClr val="000000"/>
                </a:solidFill>
                <a:latin typeface="Canva Sans"/>
                <a:ea typeface="Canva Sans"/>
                <a:cs typeface="Canva Sans"/>
                <a:sym typeface="Canva Sans"/>
              </a:rPr>
              <a:t>Розробка цільової промо-кампанії та оцінка фінансового потенціалу.</a:t>
            </a:r>
          </a:p>
          <a:p>
            <a:pPr algn="l">
              <a:lnSpc>
                <a:spcPts val="4339"/>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EDCF"/>
        </a:solidFill>
      </p:bgPr>
    </p:bg>
    <p:spTree>
      <p:nvGrpSpPr>
        <p:cNvPr id="1" name=""/>
        <p:cNvGrpSpPr/>
        <p:nvPr/>
      </p:nvGrpSpPr>
      <p:grpSpPr>
        <a:xfrm>
          <a:off x="0" y="0"/>
          <a:ext cx="0" cy="0"/>
          <a:chOff x="0" y="0"/>
          <a:chExt cx="0" cy="0"/>
        </a:xfrm>
      </p:grpSpPr>
      <p:grpSp>
        <p:nvGrpSpPr>
          <p:cNvPr name="Group 2" id="2"/>
          <p:cNvGrpSpPr/>
          <p:nvPr/>
        </p:nvGrpSpPr>
        <p:grpSpPr>
          <a:xfrm rot="0">
            <a:off x="-717405" y="4557384"/>
            <a:ext cx="1877026" cy="187702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0" t="-16747" r="0" b="-16747"/>
              </a:stretch>
            </a:blipFill>
          </p:spPr>
        </p:sp>
      </p:grpSp>
      <p:sp>
        <p:nvSpPr>
          <p:cNvPr name="Freeform 4" id="4"/>
          <p:cNvSpPr/>
          <p:nvPr/>
        </p:nvSpPr>
        <p:spPr>
          <a:xfrm flipH="false" flipV="false" rot="0">
            <a:off x="1159621" y="893290"/>
            <a:ext cx="15936785" cy="8964442"/>
          </a:xfrm>
          <a:custGeom>
            <a:avLst/>
            <a:gdLst/>
            <a:ahLst/>
            <a:cxnLst/>
            <a:rect r="r" b="b" t="t" l="l"/>
            <a:pathLst>
              <a:path h="8964442" w="15936785">
                <a:moveTo>
                  <a:pt x="0" y="0"/>
                </a:moveTo>
                <a:lnTo>
                  <a:pt x="15936785" y="0"/>
                </a:lnTo>
                <a:lnTo>
                  <a:pt x="15936785" y="8964442"/>
                </a:lnTo>
                <a:lnTo>
                  <a:pt x="0" y="8964442"/>
                </a:lnTo>
                <a:lnTo>
                  <a:pt x="0" y="0"/>
                </a:lnTo>
                <a:close/>
              </a:path>
            </a:pathLst>
          </a:custGeom>
          <a:blipFill>
            <a:blip r:embed="rId3"/>
            <a:stretch>
              <a:fillRect l="0" t="0" r="0" b="0"/>
            </a:stretch>
          </a:blipFill>
        </p:spPr>
      </p:sp>
      <p:sp>
        <p:nvSpPr>
          <p:cNvPr name="TextBox 5" id="5"/>
          <p:cNvSpPr txBox="true"/>
          <p:nvPr/>
        </p:nvSpPr>
        <p:spPr>
          <a:xfrm rot="0">
            <a:off x="221108" y="76200"/>
            <a:ext cx="12347591" cy="817090"/>
          </a:xfrm>
          <a:prstGeom prst="rect">
            <a:avLst/>
          </a:prstGeom>
        </p:spPr>
        <p:txBody>
          <a:bodyPr anchor="t" rtlCol="false" tIns="0" lIns="0" bIns="0" rIns="0">
            <a:spAutoFit/>
          </a:bodyPr>
          <a:lstStyle/>
          <a:p>
            <a:pPr algn="l">
              <a:lnSpc>
                <a:spcPts val="6186"/>
              </a:lnSpc>
            </a:pPr>
            <a:r>
              <a:rPr lang="en-US" sz="5891">
                <a:solidFill>
                  <a:srgbClr val="823C12"/>
                </a:solidFill>
                <a:latin typeface="Gulfs Display"/>
                <a:ea typeface="Gulfs Display"/>
                <a:cs typeface="Gulfs Display"/>
                <a:sym typeface="Gulfs Display"/>
              </a:rPr>
              <a:t>ДАНІ</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EDCF"/>
        </a:solidFill>
      </p:bgPr>
    </p:bg>
    <p:spTree>
      <p:nvGrpSpPr>
        <p:cNvPr id="1" name=""/>
        <p:cNvGrpSpPr/>
        <p:nvPr/>
      </p:nvGrpSpPr>
      <p:grpSpPr>
        <a:xfrm>
          <a:off x="0" y="0"/>
          <a:ext cx="0" cy="0"/>
          <a:chOff x="0" y="0"/>
          <a:chExt cx="0" cy="0"/>
        </a:xfrm>
      </p:grpSpPr>
      <p:grpSp>
        <p:nvGrpSpPr>
          <p:cNvPr name="Group 2" id="2"/>
          <p:cNvGrpSpPr/>
          <p:nvPr/>
        </p:nvGrpSpPr>
        <p:grpSpPr>
          <a:xfrm rot="0">
            <a:off x="1028700" y="-716189"/>
            <a:ext cx="5116987" cy="6991230"/>
            <a:chOff x="0" y="0"/>
            <a:chExt cx="782342" cy="1068897"/>
          </a:xfrm>
        </p:grpSpPr>
        <p:sp>
          <p:nvSpPr>
            <p:cNvPr name="Freeform 3" id="3"/>
            <p:cNvSpPr/>
            <p:nvPr/>
          </p:nvSpPr>
          <p:spPr>
            <a:xfrm flipH="false" flipV="false" rot="0">
              <a:off x="0" y="0"/>
              <a:ext cx="782342" cy="1068897"/>
            </a:xfrm>
            <a:custGeom>
              <a:avLst/>
              <a:gdLst/>
              <a:ahLst/>
              <a:cxnLst/>
              <a:rect r="r" b="b" t="t" l="l"/>
              <a:pathLst>
                <a:path h="1068897" w="782342">
                  <a:moveTo>
                    <a:pt x="260922" y="1049828"/>
                  </a:moveTo>
                  <a:cubicBezTo>
                    <a:pt x="301030" y="1061342"/>
                    <a:pt x="346629" y="1068897"/>
                    <a:pt x="391382" y="1068897"/>
                  </a:cubicBezTo>
                  <a:cubicBezTo>
                    <a:pt x="436136" y="1068897"/>
                    <a:pt x="479201" y="1062420"/>
                    <a:pt x="518887" y="1050906"/>
                  </a:cubicBezTo>
                  <a:cubicBezTo>
                    <a:pt x="519732" y="1050547"/>
                    <a:pt x="520576" y="1050547"/>
                    <a:pt x="521420" y="1050188"/>
                  </a:cubicBezTo>
                  <a:cubicBezTo>
                    <a:pt x="670458" y="1004132"/>
                    <a:pt x="780231" y="882519"/>
                    <a:pt x="782342" y="734707"/>
                  </a:cubicBezTo>
                  <a:lnTo>
                    <a:pt x="782342" y="0"/>
                  </a:lnTo>
                  <a:lnTo>
                    <a:pt x="0" y="0"/>
                  </a:lnTo>
                  <a:lnTo>
                    <a:pt x="0" y="734161"/>
                  </a:lnTo>
                  <a:cubicBezTo>
                    <a:pt x="2111" y="883237"/>
                    <a:pt x="110195" y="1004853"/>
                    <a:pt x="260922" y="1049828"/>
                  </a:cubicBezTo>
                  <a:close/>
                </a:path>
              </a:pathLst>
            </a:custGeom>
            <a:solidFill>
              <a:srgbClr val="FA5733"/>
            </a:solidFill>
            <a:ln w="57150" cap="sq">
              <a:solidFill>
                <a:srgbClr val="000000"/>
              </a:solidFill>
              <a:prstDash val="solid"/>
              <a:miter/>
            </a:ln>
          </p:spPr>
        </p:sp>
        <p:sp>
          <p:nvSpPr>
            <p:cNvPr name="TextBox 4" id="4"/>
            <p:cNvSpPr txBox="true"/>
            <p:nvPr/>
          </p:nvSpPr>
          <p:spPr>
            <a:xfrm>
              <a:off x="0" y="-38100"/>
              <a:ext cx="782342" cy="979997"/>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330241" y="1353525"/>
            <a:ext cx="4513904" cy="4513904"/>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25000" t="0" r="-25000" b="0"/>
              </a:stretch>
            </a:blipFill>
          </p:spPr>
        </p:sp>
      </p:grpSp>
      <p:sp>
        <p:nvSpPr>
          <p:cNvPr name="TextBox 7" id="7"/>
          <p:cNvSpPr txBox="true"/>
          <p:nvPr/>
        </p:nvSpPr>
        <p:spPr>
          <a:xfrm rot="0">
            <a:off x="6641515" y="47625"/>
            <a:ext cx="10109669" cy="1687765"/>
          </a:xfrm>
          <a:prstGeom prst="rect">
            <a:avLst/>
          </a:prstGeom>
        </p:spPr>
        <p:txBody>
          <a:bodyPr anchor="t" rtlCol="false" tIns="0" lIns="0" bIns="0" rIns="0">
            <a:spAutoFit/>
          </a:bodyPr>
          <a:lstStyle/>
          <a:p>
            <a:pPr algn="l">
              <a:lnSpc>
                <a:spcPts val="4601"/>
              </a:lnSpc>
            </a:pPr>
            <a:r>
              <a:rPr lang="en-US" sz="4382">
                <a:solidFill>
                  <a:srgbClr val="5F2A1E"/>
                </a:solidFill>
                <a:latin typeface="Yeseva One"/>
                <a:ea typeface="Yeseva One"/>
                <a:cs typeface="Yeseva One"/>
                <a:sym typeface="Yeseva One"/>
              </a:rPr>
              <a:t>ЗАГАЛЬНІ ПОКАЗНИКИ ЗА РІК: </a:t>
            </a:r>
          </a:p>
          <a:p>
            <a:pPr algn="l">
              <a:lnSpc>
                <a:spcPts val="8201"/>
              </a:lnSpc>
            </a:pPr>
          </a:p>
        </p:txBody>
      </p:sp>
      <p:sp>
        <p:nvSpPr>
          <p:cNvPr name="TextBox 8" id="8"/>
          <p:cNvSpPr txBox="true"/>
          <p:nvPr/>
        </p:nvSpPr>
        <p:spPr>
          <a:xfrm rot="0">
            <a:off x="6145687" y="1076325"/>
            <a:ext cx="11383653" cy="1748791"/>
          </a:xfrm>
          <a:prstGeom prst="rect">
            <a:avLst/>
          </a:prstGeom>
        </p:spPr>
        <p:txBody>
          <a:bodyPr anchor="t" rtlCol="false" tIns="0" lIns="0" bIns="0" rIns="0">
            <a:spAutoFit/>
          </a:bodyPr>
          <a:lstStyle/>
          <a:p>
            <a:pPr algn="l">
              <a:lnSpc>
                <a:spcPts val="4515"/>
              </a:lnSpc>
            </a:pPr>
            <a:r>
              <a:rPr lang="en-US" sz="4300">
                <a:solidFill>
                  <a:srgbClr val="000000"/>
                </a:solidFill>
                <a:latin typeface="Gulfs Display"/>
                <a:ea typeface="Gulfs Display"/>
                <a:cs typeface="Gulfs Display"/>
                <a:sym typeface="Gulfs Display"/>
              </a:rPr>
              <a:t>ВИРУЧКА - 817 860.05$, </a:t>
            </a:r>
          </a:p>
          <a:p>
            <a:pPr algn="l">
              <a:lnSpc>
                <a:spcPts val="4515"/>
              </a:lnSpc>
            </a:pPr>
          </a:p>
          <a:p>
            <a:pPr algn="l">
              <a:lnSpc>
                <a:spcPts val="4515"/>
              </a:lnSpc>
            </a:pPr>
            <a:r>
              <a:rPr lang="en-US" sz="4300">
                <a:solidFill>
                  <a:srgbClr val="000000"/>
                </a:solidFill>
                <a:latin typeface="Gulfs Display"/>
                <a:ea typeface="Gulfs Display"/>
                <a:cs typeface="Gulfs Display"/>
                <a:sym typeface="Gulfs Display"/>
              </a:rPr>
              <a:t>КІЛЬКІСТЬ ЗАМОВЛЕНЬ - 21350</a:t>
            </a:r>
          </a:p>
        </p:txBody>
      </p:sp>
      <p:sp>
        <p:nvSpPr>
          <p:cNvPr name="TextBox 9" id="9"/>
          <p:cNvSpPr txBox="true"/>
          <p:nvPr/>
        </p:nvSpPr>
        <p:spPr>
          <a:xfrm rot="0">
            <a:off x="6145687" y="3105268"/>
            <a:ext cx="11613960" cy="1389698"/>
          </a:xfrm>
          <a:prstGeom prst="rect">
            <a:avLst/>
          </a:prstGeom>
        </p:spPr>
        <p:txBody>
          <a:bodyPr anchor="t" rtlCol="false" tIns="0" lIns="0" bIns="0" rIns="0">
            <a:spAutoFit/>
          </a:bodyPr>
          <a:lstStyle/>
          <a:p>
            <a:pPr algn="l">
              <a:lnSpc>
                <a:spcPts val="3675"/>
              </a:lnSpc>
            </a:pPr>
            <a:r>
              <a:rPr lang="en-US" sz="3500">
                <a:solidFill>
                  <a:srgbClr val="000000"/>
                </a:solidFill>
                <a:latin typeface="Gulfs Display"/>
                <a:ea typeface="Gulfs Display"/>
                <a:cs typeface="Gulfs Display"/>
                <a:sym typeface="Gulfs Display"/>
              </a:rPr>
              <a:t>К-ТЬ ПРОДАНИХ ПІЦ - 49 574, </a:t>
            </a:r>
          </a:p>
          <a:p>
            <a:pPr algn="l">
              <a:lnSpc>
                <a:spcPts val="3675"/>
              </a:lnSpc>
            </a:pPr>
            <a:r>
              <a:rPr lang="en-US" sz="3500">
                <a:solidFill>
                  <a:srgbClr val="000000"/>
                </a:solidFill>
                <a:latin typeface="Gulfs Display"/>
                <a:ea typeface="Gulfs Display"/>
                <a:cs typeface="Gulfs Display"/>
                <a:sym typeface="Gulfs Display"/>
              </a:rPr>
              <a:t>СЕРЕДНІЙ ЧЕК - 38.31$, </a:t>
            </a:r>
          </a:p>
          <a:p>
            <a:pPr algn="l">
              <a:lnSpc>
                <a:spcPts val="3570"/>
              </a:lnSpc>
            </a:pPr>
            <a:r>
              <a:rPr lang="en-US" sz="3400">
                <a:solidFill>
                  <a:srgbClr val="000000"/>
                </a:solidFill>
                <a:latin typeface="Gulfs Display"/>
                <a:ea typeface="Gulfs Display"/>
                <a:cs typeface="Gulfs Display"/>
                <a:sym typeface="Gulfs Display"/>
              </a:rPr>
              <a:t>СЕРЕДНЯ КІЛЬКІСТЬ ПІЦ У ЗАМОВЛЕННІ=2,32</a:t>
            </a:r>
          </a:p>
        </p:txBody>
      </p:sp>
      <p:sp>
        <p:nvSpPr>
          <p:cNvPr name="TextBox 10" id="10"/>
          <p:cNvSpPr txBox="true"/>
          <p:nvPr/>
        </p:nvSpPr>
        <p:spPr>
          <a:xfrm rot="0">
            <a:off x="6145687" y="5375773"/>
            <a:ext cx="12146859" cy="4911227"/>
          </a:xfrm>
          <a:prstGeom prst="rect">
            <a:avLst/>
          </a:prstGeom>
        </p:spPr>
        <p:txBody>
          <a:bodyPr anchor="t" rtlCol="false" tIns="0" lIns="0" bIns="0" rIns="0">
            <a:spAutoFit/>
          </a:bodyPr>
          <a:lstStyle/>
          <a:p>
            <a:pPr algn="l">
              <a:lnSpc>
                <a:spcPts val="2932"/>
              </a:lnSpc>
            </a:pPr>
            <a:r>
              <a:rPr lang="en-US" sz="2094" b="true">
                <a:solidFill>
                  <a:srgbClr val="000000"/>
                </a:solidFill>
                <a:latin typeface="Canva Sans Bold"/>
                <a:ea typeface="Canva Sans Bold"/>
                <a:cs typeface="Canva Sans Bold"/>
                <a:sym typeface="Canva Sans Bold"/>
              </a:rPr>
              <a:t>SELECT </a:t>
            </a:r>
          </a:p>
          <a:p>
            <a:pPr algn="l">
              <a:lnSpc>
                <a:spcPts val="2932"/>
              </a:lnSpc>
            </a:pPr>
            <a:r>
              <a:rPr lang="en-US" sz="2094" b="true">
                <a:solidFill>
                  <a:srgbClr val="000000"/>
                </a:solidFill>
                <a:latin typeface="Canva Sans Bold"/>
                <a:ea typeface="Canva Sans Bold"/>
                <a:cs typeface="Canva Sans Bold"/>
                <a:sym typeface="Canva Sans Bold"/>
              </a:rPr>
              <a:t> SUM(p.price * od.quantity) AS total_revenue,</a:t>
            </a:r>
          </a:p>
          <a:p>
            <a:pPr algn="l">
              <a:lnSpc>
                <a:spcPts val="2932"/>
              </a:lnSpc>
            </a:pPr>
            <a:r>
              <a:rPr lang="en-US" sz="2094" b="true">
                <a:solidFill>
                  <a:srgbClr val="000000"/>
                </a:solidFill>
                <a:latin typeface="Canva Sans Bold"/>
                <a:ea typeface="Canva Sans Bold"/>
                <a:cs typeface="Canva Sans Bold"/>
                <a:sym typeface="Canva Sans Bold"/>
              </a:rPr>
              <a:t>    COUNT(DISTINCT o.order_id) AS total_orders,</a:t>
            </a:r>
          </a:p>
          <a:p>
            <a:pPr algn="l">
              <a:lnSpc>
                <a:spcPts val="2932"/>
              </a:lnSpc>
            </a:pPr>
            <a:r>
              <a:rPr lang="en-US" sz="2094" b="true">
                <a:solidFill>
                  <a:srgbClr val="000000"/>
                </a:solidFill>
                <a:latin typeface="Canva Sans Bold"/>
                <a:ea typeface="Canva Sans Bold"/>
                <a:cs typeface="Canva Sans Bold"/>
                <a:sym typeface="Canva Sans Bold"/>
              </a:rPr>
              <a:t>    SUM(od.quantity) AS total_pizzas_sold,</a:t>
            </a:r>
          </a:p>
          <a:p>
            <a:pPr algn="l">
              <a:lnSpc>
                <a:spcPts val="2932"/>
              </a:lnSpc>
            </a:pPr>
            <a:r>
              <a:rPr lang="en-US" sz="2094" b="true">
                <a:solidFill>
                  <a:srgbClr val="000000"/>
                </a:solidFill>
                <a:latin typeface="Canva Sans Bold"/>
                <a:ea typeface="Canva Sans Bold"/>
                <a:cs typeface="Canva Sans Bold"/>
                <a:sym typeface="Canva Sans Bold"/>
              </a:rPr>
              <a:t>    CAST(SUM(p.price * od.quantity) / COUNT(DISTINCT o.order_id) AS DECIMAL(10, 2)) AS average_order_value,</a:t>
            </a:r>
          </a:p>
          <a:p>
            <a:pPr algn="l">
              <a:lnSpc>
                <a:spcPts val="2932"/>
              </a:lnSpc>
            </a:pPr>
            <a:r>
              <a:rPr lang="en-US" sz="2094" b="true">
                <a:solidFill>
                  <a:srgbClr val="000000"/>
                </a:solidFill>
                <a:latin typeface="Canva Sans Bold"/>
                <a:ea typeface="Canva Sans Bold"/>
                <a:cs typeface="Canva Sans Bold"/>
                <a:sym typeface="Canva Sans Bold"/>
              </a:rPr>
              <a:t>    CAST(SUM(od.quantity) * 1.0 / COUNT(DISTINCT o.order_id) AS DECIMAL(10, 2)) AS average_pizzas_per_order</a:t>
            </a:r>
          </a:p>
          <a:p>
            <a:pPr algn="l">
              <a:lnSpc>
                <a:spcPts val="2932"/>
              </a:lnSpc>
            </a:pPr>
            <a:r>
              <a:rPr lang="en-US" sz="2094" b="true">
                <a:solidFill>
                  <a:srgbClr val="000000"/>
                </a:solidFill>
                <a:latin typeface="Canva Sans Bold"/>
                <a:ea typeface="Canva Sans Bold"/>
                <a:cs typeface="Canva Sans Bold"/>
                <a:sym typeface="Canva Sans Bold"/>
              </a:rPr>
              <a:t>FROM orders o </a:t>
            </a:r>
          </a:p>
          <a:p>
            <a:pPr algn="l">
              <a:lnSpc>
                <a:spcPts val="2932"/>
              </a:lnSpc>
            </a:pPr>
            <a:r>
              <a:rPr lang="en-US" sz="2094" b="true">
                <a:solidFill>
                  <a:srgbClr val="000000"/>
                </a:solidFill>
                <a:latin typeface="Canva Sans Bold"/>
                <a:ea typeface="Canva Sans Bold"/>
                <a:cs typeface="Canva Sans Bold"/>
                <a:sym typeface="Canva Sans Bold"/>
              </a:rPr>
              <a:t>JOIN order_details AS od ON o.order_id = od.order_id</a:t>
            </a:r>
          </a:p>
          <a:p>
            <a:pPr algn="l">
              <a:lnSpc>
                <a:spcPts val="2932"/>
              </a:lnSpc>
            </a:pPr>
            <a:r>
              <a:rPr lang="en-US" sz="2094" b="true">
                <a:solidFill>
                  <a:srgbClr val="000000"/>
                </a:solidFill>
                <a:latin typeface="Canva Sans Bold"/>
                <a:ea typeface="Canva Sans Bold"/>
                <a:cs typeface="Canva Sans Bold"/>
                <a:sym typeface="Canva Sans Bold"/>
              </a:rPr>
              <a:t>JOIN pizzas AS p ON od.pizza_id = p.pizza_id</a:t>
            </a:r>
          </a:p>
          <a:p>
            <a:pPr algn="l">
              <a:lnSpc>
                <a:spcPts val="2932"/>
              </a:lnSpc>
            </a:pPr>
            <a:r>
              <a:rPr lang="en-US" sz="2094" b="true">
                <a:solidFill>
                  <a:srgbClr val="000000"/>
                </a:solidFill>
                <a:latin typeface="Canva Sans Bold"/>
                <a:ea typeface="Canva Sans Bold"/>
                <a:cs typeface="Canva Sans Bold"/>
                <a:sym typeface="Canva Sans Bold"/>
              </a:rPr>
              <a:t>WHERE o.date &gt;= '2015-01-01' AND o.date &lt;= '2015-12-31';</a:t>
            </a:r>
          </a:p>
          <a:p>
            <a:pPr algn="l">
              <a:lnSpc>
                <a:spcPts val="3772"/>
              </a:lnSpc>
              <a:spcBef>
                <a:spcPct val="0"/>
              </a:spcBef>
            </a:pPr>
            <a:r>
              <a:rPr lang="en-US" sz="2694">
                <a:solidFill>
                  <a:srgbClr val="000000"/>
                </a:solidFill>
                <a:latin typeface="Canva Sans"/>
                <a:ea typeface="Canva Sans"/>
                <a:cs typeface="Canva Sans"/>
                <a:sym typeface="Canva Sans"/>
              </a:rPr>
              <a:t>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EDCF"/>
        </a:solidFill>
      </p:bgPr>
    </p:bg>
    <p:spTree>
      <p:nvGrpSpPr>
        <p:cNvPr id="1" name=""/>
        <p:cNvGrpSpPr/>
        <p:nvPr/>
      </p:nvGrpSpPr>
      <p:grpSpPr>
        <a:xfrm>
          <a:off x="0" y="0"/>
          <a:ext cx="0" cy="0"/>
          <a:chOff x="0" y="0"/>
          <a:chExt cx="0" cy="0"/>
        </a:xfrm>
      </p:grpSpPr>
      <p:grpSp>
        <p:nvGrpSpPr>
          <p:cNvPr name="Group 2" id="2"/>
          <p:cNvGrpSpPr/>
          <p:nvPr/>
        </p:nvGrpSpPr>
        <p:grpSpPr>
          <a:xfrm rot="0">
            <a:off x="14264950" y="6252163"/>
            <a:ext cx="5512818" cy="551281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5733"/>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4721980" y="6670283"/>
            <a:ext cx="4860464" cy="4860464"/>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25235" t="0" r="-25235" b="0"/>
              </a:stretch>
            </a:blipFill>
          </p:spPr>
        </p:sp>
      </p:grpSp>
      <p:sp>
        <p:nvSpPr>
          <p:cNvPr name="Freeform 7" id="7"/>
          <p:cNvSpPr/>
          <p:nvPr/>
        </p:nvSpPr>
        <p:spPr>
          <a:xfrm flipH="false" flipV="false" rot="0">
            <a:off x="9903970" y="767716"/>
            <a:ext cx="8384030" cy="5358816"/>
          </a:xfrm>
          <a:custGeom>
            <a:avLst/>
            <a:gdLst/>
            <a:ahLst/>
            <a:cxnLst/>
            <a:rect r="r" b="b" t="t" l="l"/>
            <a:pathLst>
              <a:path h="5358816" w="8384030">
                <a:moveTo>
                  <a:pt x="0" y="0"/>
                </a:moveTo>
                <a:lnTo>
                  <a:pt x="8384030" y="0"/>
                </a:lnTo>
                <a:lnTo>
                  <a:pt x="8384030" y="5358816"/>
                </a:lnTo>
                <a:lnTo>
                  <a:pt x="0" y="5358816"/>
                </a:lnTo>
                <a:lnTo>
                  <a:pt x="0" y="0"/>
                </a:lnTo>
                <a:close/>
              </a:path>
            </a:pathLst>
          </a:custGeom>
          <a:blipFill>
            <a:blip r:embed="rId3"/>
            <a:stretch>
              <a:fillRect l="0" t="0" r="0" b="0"/>
            </a:stretch>
          </a:blipFill>
        </p:spPr>
      </p:sp>
      <p:sp>
        <p:nvSpPr>
          <p:cNvPr name="TextBox 8" id="8"/>
          <p:cNvSpPr txBox="true"/>
          <p:nvPr/>
        </p:nvSpPr>
        <p:spPr>
          <a:xfrm rot="0">
            <a:off x="10758593" y="104775"/>
            <a:ext cx="7529407" cy="662941"/>
          </a:xfrm>
          <a:prstGeom prst="rect">
            <a:avLst/>
          </a:prstGeom>
        </p:spPr>
        <p:txBody>
          <a:bodyPr anchor="t" rtlCol="false" tIns="0" lIns="0" bIns="0" rIns="0">
            <a:spAutoFit/>
          </a:bodyPr>
          <a:lstStyle/>
          <a:p>
            <a:pPr algn="l">
              <a:lnSpc>
                <a:spcPts val="5040"/>
              </a:lnSpc>
            </a:pPr>
            <a:r>
              <a:rPr lang="en-US" sz="4800" u="sng">
                <a:solidFill>
                  <a:srgbClr val="000000"/>
                </a:solidFill>
                <a:latin typeface="Gulfs Display"/>
                <a:ea typeface="Gulfs Display"/>
                <a:cs typeface="Gulfs Display"/>
                <a:sym typeface="Gulfs Display"/>
              </a:rPr>
              <a:t>ДИНАМІКА ПО МІСЯЦЯХ</a:t>
            </a:r>
          </a:p>
        </p:txBody>
      </p:sp>
      <p:sp>
        <p:nvSpPr>
          <p:cNvPr name="TextBox 9" id="9"/>
          <p:cNvSpPr txBox="true"/>
          <p:nvPr/>
        </p:nvSpPr>
        <p:spPr>
          <a:xfrm rot="0">
            <a:off x="9903970" y="6268875"/>
            <a:ext cx="5318117" cy="1062268"/>
          </a:xfrm>
          <a:prstGeom prst="rect">
            <a:avLst/>
          </a:prstGeom>
        </p:spPr>
        <p:txBody>
          <a:bodyPr anchor="t" rtlCol="false" tIns="0" lIns="0" bIns="0" rIns="0">
            <a:spAutoFit/>
          </a:bodyPr>
          <a:lstStyle/>
          <a:p>
            <a:pPr algn="l">
              <a:lnSpc>
                <a:spcPts val="2849"/>
              </a:lnSpc>
              <a:spcBef>
                <a:spcPct val="0"/>
              </a:spcBef>
            </a:pPr>
            <a:r>
              <a:rPr lang="en-US" b="true" sz="2035">
                <a:solidFill>
                  <a:srgbClr val="000000"/>
                </a:solidFill>
                <a:latin typeface="Canva Sans Bold"/>
                <a:ea typeface="Canva Sans Bold"/>
                <a:cs typeface="Canva Sans Bold"/>
                <a:sym typeface="Canva Sans Bold"/>
              </a:rPr>
              <a:t>Динаміка змін до попереднього місяця показує сезоннні коливання показника продажів.</a:t>
            </a:r>
          </a:p>
        </p:txBody>
      </p:sp>
      <p:sp>
        <p:nvSpPr>
          <p:cNvPr name="TextBox 10" id="10"/>
          <p:cNvSpPr txBox="true"/>
          <p:nvPr/>
        </p:nvSpPr>
        <p:spPr>
          <a:xfrm rot="0">
            <a:off x="280201" y="796291"/>
            <a:ext cx="8115300" cy="706754"/>
          </a:xfrm>
          <a:prstGeom prst="rect">
            <a:avLst/>
          </a:prstGeom>
        </p:spPr>
        <p:txBody>
          <a:bodyPr anchor="t" rtlCol="false" tIns="0" lIns="0" bIns="0" rIns="0">
            <a:spAutoFit/>
          </a:bodyPr>
          <a:lstStyle/>
          <a:p>
            <a:pPr algn="l">
              <a:lnSpc>
                <a:spcPts val="2729"/>
              </a:lnSpc>
            </a:pPr>
            <a:r>
              <a:rPr lang="en-US" sz="2599">
                <a:solidFill>
                  <a:srgbClr val="000000"/>
                </a:solidFill>
                <a:latin typeface="Gulfs Display"/>
                <a:ea typeface="Gulfs Display"/>
                <a:cs typeface="Gulfs Display"/>
                <a:sym typeface="Gulfs Display"/>
              </a:rPr>
              <a:t>MAX ЛИПЕНЬ </a:t>
            </a:r>
          </a:p>
          <a:p>
            <a:pPr algn="l">
              <a:lnSpc>
                <a:spcPts val="2729"/>
              </a:lnSpc>
            </a:pPr>
            <a:r>
              <a:rPr lang="en-US" sz="2599">
                <a:solidFill>
                  <a:srgbClr val="000000"/>
                </a:solidFill>
                <a:latin typeface="Gulfs Display"/>
                <a:ea typeface="Gulfs Display"/>
                <a:cs typeface="Gulfs Display"/>
                <a:sym typeface="Gulfs Display"/>
              </a:rPr>
              <a:t>(ВИРУЧКА 72 557,9$, К-ТЬ ЗАМОВЛЕНЬ - 1935).</a:t>
            </a:r>
          </a:p>
        </p:txBody>
      </p:sp>
      <p:sp>
        <p:nvSpPr>
          <p:cNvPr name="TextBox 11" id="11"/>
          <p:cNvSpPr txBox="true"/>
          <p:nvPr/>
        </p:nvSpPr>
        <p:spPr>
          <a:xfrm rot="0">
            <a:off x="126663" y="2670974"/>
            <a:ext cx="9144000" cy="7970043"/>
          </a:xfrm>
          <a:prstGeom prst="rect">
            <a:avLst/>
          </a:prstGeom>
        </p:spPr>
        <p:txBody>
          <a:bodyPr anchor="t" rtlCol="false" tIns="0" lIns="0" bIns="0" rIns="0">
            <a:spAutoFit/>
          </a:bodyPr>
          <a:lstStyle/>
          <a:p>
            <a:pPr algn="l">
              <a:lnSpc>
                <a:spcPts val="2239"/>
              </a:lnSpc>
            </a:pPr>
            <a:r>
              <a:rPr lang="en-US" sz="1599" b="true">
                <a:solidFill>
                  <a:srgbClr val="000000"/>
                </a:solidFill>
                <a:latin typeface="Canva Sans Bold"/>
                <a:ea typeface="Canva Sans Bold"/>
                <a:cs typeface="Canva Sans Bold"/>
                <a:sym typeface="Canva Sans Bold"/>
              </a:rPr>
              <a:t>WITH monthly_metrics AS (</a:t>
            </a:r>
          </a:p>
          <a:p>
            <a:pPr algn="l">
              <a:lnSpc>
                <a:spcPts val="2239"/>
              </a:lnSpc>
            </a:pPr>
            <a:r>
              <a:rPr lang="en-US" sz="1599" b="true">
                <a:solidFill>
                  <a:srgbClr val="000000"/>
                </a:solidFill>
                <a:latin typeface="Canva Sans Bold"/>
                <a:ea typeface="Canva Sans Bold"/>
                <a:cs typeface="Canva Sans Bold"/>
                <a:sym typeface="Canva Sans Bold"/>
              </a:rPr>
              <a:t>    SELECT </a:t>
            </a:r>
          </a:p>
          <a:p>
            <a:pPr algn="l">
              <a:lnSpc>
                <a:spcPts val="2239"/>
              </a:lnSpc>
            </a:pPr>
            <a:r>
              <a:rPr lang="en-US" sz="1599" b="true">
                <a:solidFill>
                  <a:srgbClr val="000000"/>
                </a:solidFill>
                <a:latin typeface="Canva Sans Bold"/>
                <a:ea typeface="Canva Sans Bold"/>
                <a:cs typeface="Canva Sans Bold"/>
                <a:sym typeface="Canva Sans Bold"/>
              </a:rPr>
              <a:t>        strftime('%m', o.date) AS month,</a:t>
            </a:r>
          </a:p>
          <a:p>
            <a:pPr algn="l">
              <a:lnSpc>
                <a:spcPts val="2239"/>
              </a:lnSpc>
            </a:pPr>
            <a:r>
              <a:rPr lang="en-US" sz="1599" b="true">
                <a:solidFill>
                  <a:srgbClr val="000000"/>
                </a:solidFill>
                <a:latin typeface="Canva Sans Bold"/>
                <a:ea typeface="Canva Sans Bold"/>
                <a:cs typeface="Canva Sans Bold"/>
                <a:sym typeface="Canva Sans Bold"/>
              </a:rPr>
              <a:t>        ROUND(SUM(p.price * od.quantity), 2) AS total_revenue,</a:t>
            </a:r>
          </a:p>
          <a:p>
            <a:pPr algn="l">
              <a:lnSpc>
                <a:spcPts val="2239"/>
              </a:lnSpc>
            </a:pPr>
            <a:r>
              <a:rPr lang="en-US" sz="1599" b="true">
                <a:solidFill>
                  <a:srgbClr val="000000"/>
                </a:solidFill>
                <a:latin typeface="Canva Sans Bold"/>
                <a:ea typeface="Canva Sans Bold"/>
                <a:cs typeface="Canva Sans Bold"/>
                <a:sym typeface="Canva Sans Bold"/>
              </a:rPr>
              <a:t>        COUNT(DISTINCT o.order_id) AS total_orders</a:t>
            </a:r>
          </a:p>
          <a:p>
            <a:pPr algn="l">
              <a:lnSpc>
                <a:spcPts val="2239"/>
              </a:lnSpc>
            </a:pPr>
            <a:r>
              <a:rPr lang="en-US" sz="1599" b="true">
                <a:solidFill>
                  <a:srgbClr val="000000"/>
                </a:solidFill>
                <a:latin typeface="Canva Sans Bold"/>
                <a:ea typeface="Canva Sans Bold"/>
                <a:cs typeface="Canva Sans Bold"/>
                <a:sym typeface="Canva Sans Bold"/>
              </a:rPr>
              <a:t>    FROM orders o</a:t>
            </a:r>
          </a:p>
          <a:p>
            <a:pPr algn="l">
              <a:lnSpc>
                <a:spcPts val="2239"/>
              </a:lnSpc>
            </a:pPr>
            <a:r>
              <a:rPr lang="en-US" sz="1599" b="true">
                <a:solidFill>
                  <a:srgbClr val="000000"/>
                </a:solidFill>
                <a:latin typeface="Canva Sans Bold"/>
                <a:ea typeface="Canva Sans Bold"/>
                <a:cs typeface="Canva Sans Bold"/>
                <a:sym typeface="Canva Sans Bold"/>
              </a:rPr>
              <a:t>    JOIN order_details od ON o.order_id = od.order_id</a:t>
            </a:r>
          </a:p>
          <a:p>
            <a:pPr algn="l">
              <a:lnSpc>
                <a:spcPts val="2239"/>
              </a:lnSpc>
            </a:pPr>
            <a:r>
              <a:rPr lang="en-US" sz="1599" b="true">
                <a:solidFill>
                  <a:srgbClr val="000000"/>
                </a:solidFill>
                <a:latin typeface="Canva Sans Bold"/>
                <a:ea typeface="Canva Sans Bold"/>
                <a:cs typeface="Canva Sans Bold"/>
                <a:sym typeface="Canva Sans Bold"/>
              </a:rPr>
              <a:t>    JOIN pizzas p ON od.pizza_id = p.pizza_id</a:t>
            </a:r>
          </a:p>
          <a:p>
            <a:pPr algn="l">
              <a:lnSpc>
                <a:spcPts val="2239"/>
              </a:lnSpc>
            </a:pPr>
            <a:r>
              <a:rPr lang="en-US" sz="1599" b="true">
                <a:solidFill>
                  <a:srgbClr val="000000"/>
                </a:solidFill>
                <a:latin typeface="Canva Sans Bold"/>
                <a:ea typeface="Canva Sans Bold"/>
                <a:cs typeface="Canva Sans Bold"/>
                <a:sym typeface="Canva Sans Bold"/>
              </a:rPr>
              <a:t>    WHERE o.date BETWEEN '2015-01-01' AND '2015-12-31'</a:t>
            </a:r>
          </a:p>
          <a:p>
            <a:pPr algn="l">
              <a:lnSpc>
                <a:spcPts val="2239"/>
              </a:lnSpc>
            </a:pPr>
            <a:r>
              <a:rPr lang="en-US" sz="1599" b="true">
                <a:solidFill>
                  <a:srgbClr val="000000"/>
                </a:solidFill>
                <a:latin typeface="Canva Sans Bold"/>
                <a:ea typeface="Canva Sans Bold"/>
                <a:cs typeface="Canva Sans Bold"/>
                <a:sym typeface="Canva Sans Bold"/>
              </a:rPr>
              <a:t>    GROUP BY month</a:t>
            </a:r>
          </a:p>
          <a:p>
            <a:pPr algn="l">
              <a:lnSpc>
                <a:spcPts val="2239"/>
              </a:lnSpc>
            </a:pPr>
            <a:r>
              <a:rPr lang="en-US" sz="1599" b="true">
                <a:solidFill>
                  <a:srgbClr val="000000"/>
                </a:solidFill>
                <a:latin typeface="Canva Sans Bold"/>
                <a:ea typeface="Canva Sans Bold"/>
                <a:cs typeface="Canva Sans Bold"/>
                <a:sym typeface="Canva Sans Bold"/>
              </a:rPr>
              <a:t>)</a:t>
            </a:r>
          </a:p>
          <a:p>
            <a:pPr algn="l">
              <a:lnSpc>
                <a:spcPts val="2239"/>
              </a:lnSpc>
            </a:pPr>
            <a:r>
              <a:rPr lang="en-US" sz="1599" b="true">
                <a:solidFill>
                  <a:srgbClr val="000000"/>
                </a:solidFill>
                <a:latin typeface="Canva Sans Bold"/>
                <a:ea typeface="Canva Sans Bold"/>
                <a:cs typeface="Canva Sans Bold"/>
                <a:sym typeface="Canva Sans Bold"/>
              </a:rPr>
              <a:t>SELECT </a:t>
            </a:r>
          </a:p>
          <a:p>
            <a:pPr algn="l">
              <a:lnSpc>
                <a:spcPts val="2239"/>
              </a:lnSpc>
            </a:pPr>
            <a:r>
              <a:rPr lang="en-US" sz="1599" b="true">
                <a:solidFill>
                  <a:srgbClr val="000000"/>
                </a:solidFill>
                <a:latin typeface="Canva Sans Bold"/>
                <a:ea typeface="Canva Sans Bold"/>
                <a:cs typeface="Canva Sans Bold"/>
                <a:sym typeface="Canva Sans Bold"/>
              </a:rPr>
              <a:t>    month,</a:t>
            </a:r>
          </a:p>
          <a:p>
            <a:pPr algn="l">
              <a:lnSpc>
                <a:spcPts val="2239"/>
              </a:lnSpc>
            </a:pPr>
            <a:r>
              <a:rPr lang="en-US" sz="1599" b="true">
                <a:solidFill>
                  <a:srgbClr val="000000"/>
                </a:solidFill>
                <a:latin typeface="Canva Sans Bold"/>
                <a:ea typeface="Canva Sans Bold"/>
                <a:cs typeface="Canva Sans Bold"/>
                <a:sym typeface="Canva Sans Bold"/>
              </a:rPr>
              <a:t>    total_revenue,</a:t>
            </a:r>
          </a:p>
          <a:p>
            <a:pPr algn="l">
              <a:lnSpc>
                <a:spcPts val="2239"/>
              </a:lnSpc>
            </a:pPr>
            <a:r>
              <a:rPr lang="en-US" sz="1599" b="true">
                <a:solidFill>
                  <a:srgbClr val="000000"/>
                </a:solidFill>
                <a:latin typeface="Canva Sans Bold"/>
                <a:ea typeface="Canva Sans Bold"/>
                <a:cs typeface="Canva Sans Bold"/>
                <a:sym typeface="Canva Sans Bold"/>
              </a:rPr>
              <a:t>    total_orders,</a:t>
            </a:r>
          </a:p>
          <a:p>
            <a:pPr algn="l">
              <a:lnSpc>
                <a:spcPts val="2239"/>
              </a:lnSpc>
            </a:pPr>
            <a:r>
              <a:rPr lang="en-US" sz="1599" b="true">
                <a:solidFill>
                  <a:srgbClr val="000000"/>
                </a:solidFill>
                <a:latin typeface="Canva Sans Bold"/>
                <a:ea typeface="Canva Sans Bold"/>
                <a:cs typeface="Canva Sans Bold"/>
                <a:sym typeface="Canva Sans Bold"/>
              </a:rPr>
              <a:t>    ROUND(</a:t>
            </a:r>
          </a:p>
          <a:p>
            <a:pPr algn="l">
              <a:lnSpc>
                <a:spcPts val="2239"/>
              </a:lnSpc>
            </a:pPr>
            <a:r>
              <a:rPr lang="en-US" sz="1599" b="true">
                <a:solidFill>
                  <a:srgbClr val="000000"/>
                </a:solidFill>
                <a:latin typeface="Canva Sans Bold"/>
                <a:ea typeface="Canva Sans Bold"/>
                <a:cs typeface="Canva Sans Bold"/>
                <a:sym typeface="Canva Sans Bold"/>
              </a:rPr>
              <a:t>        (total_revenue - LAG(total_revenue) OVER (ORDER BY month)) </a:t>
            </a:r>
          </a:p>
          <a:p>
            <a:pPr algn="l">
              <a:lnSpc>
                <a:spcPts val="2239"/>
              </a:lnSpc>
            </a:pPr>
            <a:r>
              <a:rPr lang="en-US" sz="1599" b="true">
                <a:solidFill>
                  <a:srgbClr val="000000"/>
                </a:solidFill>
                <a:latin typeface="Canva Sans Bold"/>
                <a:ea typeface="Canva Sans Bold"/>
                <a:cs typeface="Canva Sans Bold"/>
                <a:sym typeface="Canva Sans Bold"/>
              </a:rPr>
              <a:t>        / LAG(total_revenue) OVER (ORDER BY month) * 100, </a:t>
            </a:r>
          </a:p>
          <a:p>
            <a:pPr algn="l">
              <a:lnSpc>
                <a:spcPts val="2239"/>
              </a:lnSpc>
            </a:pPr>
            <a:r>
              <a:rPr lang="en-US" sz="1599" b="true">
                <a:solidFill>
                  <a:srgbClr val="000000"/>
                </a:solidFill>
                <a:latin typeface="Canva Sans Bold"/>
                <a:ea typeface="Canva Sans Bold"/>
                <a:cs typeface="Canva Sans Bold"/>
                <a:sym typeface="Canva Sans Bold"/>
              </a:rPr>
              <a:t>        2</a:t>
            </a:r>
          </a:p>
          <a:p>
            <a:pPr algn="l">
              <a:lnSpc>
                <a:spcPts val="2239"/>
              </a:lnSpc>
            </a:pPr>
            <a:r>
              <a:rPr lang="en-US" sz="1599" b="true">
                <a:solidFill>
                  <a:srgbClr val="000000"/>
                </a:solidFill>
                <a:latin typeface="Canva Sans Bold"/>
                <a:ea typeface="Canva Sans Bold"/>
                <a:cs typeface="Canva Sans Bold"/>
                <a:sym typeface="Canva Sans Bold"/>
              </a:rPr>
              <a:t>    ) AS revenue_change_pct,</a:t>
            </a:r>
          </a:p>
          <a:p>
            <a:pPr algn="l">
              <a:lnSpc>
                <a:spcPts val="2239"/>
              </a:lnSpc>
            </a:pPr>
            <a:r>
              <a:rPr lang="en-US" sz="1599" b="true">
                <a:solidFill>
                  <a:srgbClr val="000000"/>
                </a:solidFill>
                <a:latin typeface="Canva Sans Bold"/>
                <a:ea typeface="Canva Sans Bold"/>
                <a:cs typeface="Canva Sans Bold"/>
                <a:sym typeface="Canva Sans Bold"/>
              </a:rPr>
              <a:t>    ROUND(</a:t>
            </a:r>
          </a:p>
          <a:p>
            <a:pPr algn="l">
              <a:lnSpc>
                <a:spcPts val="2239"/>
              </a:lnSpc>
            </a:pPr>
            <a:r>
              <a:rPr lang="en-US" sz="1599" b="true">
                <a:solidFill>
                  <a:srgbClr val="000000"/>
                </a:solidFill>
                <a:latin typeface="Canva Sans Bold"/>
                <a:ea typeface="Canva Sans Bold"/>
                <a:cs typeface="Canva Sans Bold"/>
                <a:sym typeface="Canva Sans Bold"/>
              </a:rPr>
              <a:t>        (CAST(total_orders AS REAL) - LAG(total_orders) OVER (ORDER BY month)) </a:t>
            </a:r>
          </a:p>
          <a:p>
            <a:pPr algn="l">
              <a:lnSpc>
                <a:spcPts val="2239"/>
              </a:lnSpc>
            </a:pPr>
            <a:r>
              <a:rPr lang="en-US" sz="1599" b="true">
                <a:solidFill>
                  <a:srgbClr val="000000"/>
                </a:solidFill>
                <a:latin typeface="Canva Sans Bold"/>
                <a:ea typeface="Canva Sans Bold"/>
                <a:cs typeface="Canva Sans Bold"/>
                <a:sym typeface="Canva Sans Bold"/>
              </a:rPr>
              <a:t>        / LAG(total_orders) OVER (ORDER BY month) * 100, </a:t>
            </a:r>
          </a:p>
          <a:p>
            <a:pPr algn="l">
              <a:lnSpc>
                <a:spcPts val="2239"/>
              </a:lnSpc>
            </a:pPr>
            <a:r>
              <a:rPr lang="en-US" sz="1599" b="true">
                <a:solidFill>
                  <a:srgbClr val="000000"/>
                </a:solidFill>
                <a:latin typeface="Canva Sans Bold"/>
                <a:ea typeface="Canva Sans Bold"/>
                <a:cs typeface="Canva Sans Bold"/>
                <a:sym typeface="Canva Sans Bold"/>
              </a:rPr>
              <a:t>        2</a:t>
            </a:r>
          </a:p>
          <a:p>
            <a:pPr algn="l">
              <a:lnSpc>
                <a:spcPts val="2239"/>
              </a:lnSpc>
            </a:pPr>
            <a:r>
              <a:rPr lang="en-US" sz="1599" b="true">
                <a:solidFill>
                  <a:srgbClr val="000000"/>
                </a:solidFill>
                <a:latin typeface="Canva Sans Bold"/>
                <a:ea typeface="Canva Sans Bold"/>
                <a:cs typeface="Canva Sans Bold"/>
                <a:sym typeface="Canva Sans Bold"/>
              </a:rPr>
              <a:t>    ) AS orders_change_pct</a:t>
            </a:r>
          </a:p>
          <a:p>
            <a:pPr algn="l">
              <a:lnSpc>
                <a:spcPts val="2239"/>
              </a:lnSpc>
            </a:pPr>
            <a:r>
              <a:rPr lang="en-US" sz="1599" b="true">
                <a:solidFill>
                  <a:srgbClr val="000000"/>
                </a:solidFill>
                <a:latin typeface="Canva Sans Bold"/>
                <a:ea typeface="Canva Sans Bold"/>
                <a:cs typeface="Canva Sans Bold"/>
                <a:sym typeface="Canva Sans Bold"/>
              </a:rPr>
              <a:t>FROM monthly_metrics</a:t>
            </a:r>
          </a:p>
          <a:p>
            <a:pPr algn="l">
              <a:lnSpc>
                <a:spcPts val="2239"/>
              </a:lnSpc>
            </a:pPr>
            <a:r>
              <a:rPr lang="en-US" sz="1599" b="true">
                <a:solidFill>
                  <a:srgbClr val="000000"/>
                </a:solidFill>
                <a:latin typeface="Canva Sans Bold"/>
                <a:ea typeface="Canva Sans Bold"/>
                <a:cs typeface="Canva Sans Bold"/>
                <a:sym typeface="Canva Sans Bold"/>
              </a:rPr>
              <a:t>ORDER BY month;</a:t>
            </a:r>
          </a:p>
          <a:p>
            <a:pPr algn="l">
              <a:lnSpc>
                <a:spcPts val="4322"/>
              </a:lnSpc>
              <a:spcBef>
                <a:spcPct val="0"/>
              </a:spcBef>
            </a:pPr>
          </a:p>
        </p:txBody>
      </p:sp>
      <p:sp>
        <p:nvSpPr>
          <p:cNvPr name="TextBox 12" id="12"/>
          <p:cNvSpPr txBox="true"/>
          <p:nvPr/>
        </p:nvSpPr>
        <p:spPr>
          <a:xfrm rot="0">
            <a:off x="258969" y="1847417"/>
            <a:ext cx="8136532" cy="706754"/>
          </a:xfrm>
          <a:prstGeom prst="rect">
            <a:avLst/>
          </a:prstGeom>
        </p:spPr>
        <p:txBody>
          <a:bodyPr anchor="t" rtlCol="false" tIns="0" lIns="0" bIns="0" rIns="0">
            <a:spAutoFit/>
          </a:bodyPr>
          <a:lstStyle/>
          <a:p>
            <a:pPr algn="l">
              <a:lnSpc>
                <a:spcPts val="2729"/>
              </a:lnSpc>
            </a:pPr>
            <a:r>
              <a:rPr lang="en-US" sz="2599">
                <a:solidFill>
                  <a:srgbClr val="000000"/>
                </a:solidFill>
                <a:latin typeface="Gulfs Display"/>
                <a:ea typeface="Gulfs Display"/>
                <a:cs typeface="Gulfs Display"/>
                <a:sym typeface="Gulfs Display"/>
              </a:rPr>
              <a:t>MIN ЖОВТЕНЬ </a:t>
            </a:r>
          </a:p>
          <a:p>
            <a:pPr algn="l">
              <a:lnSpc>
                <a:spcPts val="2729"/>
              </a:lnSpc>
            </a:pPr>
            <a:r>
              <a:rPr lang="en-US" sz="2599">
                <a:solidFill>
                  <a:srgbClr val="000000"/>
                </a:solidFill>
                <a:latin typeface="Gulfs Display"/>
                <a:ea typeface="Gulfs Display"/>
                <a:cs typeface="Gulfs Display"/>
                <a:sym typeface="Gulfs Display"/>
              </a:rPr>
              <a:t>(ВИРУЧКА 64 027,6$, К-ТЬ ЗАМОВЛЕНЬ 1646)</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EDCF"/>
        </a:solidFill>
      </p:bgPr>
    </p:bg>
    <p:spTree>
      <p:nvGrpSpPr>
        <p:cNvPr id="1" name=""/>
        <p:cNvGrpSpPr/>
        <p:nvPr/>
      </p:nvGrpSpPr>
      <p:grpSpPr>
        <a:xfrm>
          <a:off x="0" y="0"/>
          <a:ext cx="0" cy="0"/>
          <a:chOff x="0" y="0"/>
          <a:chExt cx="0" cy="0"/>
        </a:xfrm>
      </p:grpSpPr>
      <p:grpSp>
        <p:nvGrpSpPr>
          <p:cNvPr name="Group 2" id="2"/>
          <p:cNvGrpSpPr/>
          <p:nvPr/>
        </p:nvGrpSpPr>
        <p:grpSpPr>
          <a:xfrm rot="0">
            <a:off x="-1278167" y="4889579"/>
            <a:ext cx="8226395" cy="822639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5733"/>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873023" y="5847082"/>
            <a:ext cx="6904442" cy="690444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28123" t="0" r="-22819" b="0"/>
              </a:stretch>
            </a:blipFill>
          </p:spPr>
        </p:sp>
      </p:grpSp>
      <p:sp>
        <p:nvSpPr>
          <p:cNvPr name="Freeform 7" id="7"/>
          <p:cNvSpPr/>
          <p:nvPr/>
        </p:nvSpPr>
        <p:spPr>
          <a:xfrm flipH="false" flipV="false" rot="0">
            <a:off x="7973993" y="600353"/>
            <a:ext cx="10176498" cy="5400168"/>
          </a:xfrm>
          <a:custGeom>
            <a:avLst/>
            <a:gdLst/>
            <a:ahLst/>
            <a:cxnLst/>
            <a:rect r="r" b="b" t="t" l="l"/>
            <a:pathLst>
              <a:path h="5400168" w="10176498">
                <a:moveTo>
                  <a:pt x="0" y="0"/>
                </a:moveTo>
                <a:lnTo>
                  <a:pt x="10176498" y="0"/>
                </a:lnTo>
                <a:lnTo>
                  <a:pt x="10176498" y="5400168"/>
                </a:lnTo>
                <a:lnTo>
                  <a:pt x="0" y="5400168"/>
                </a:lnTo>
                <a:lnTo>
                  <a:pt x="0" y="0"/>
                </a:lnTo>
                <a:close/>
              </a:path>
            </a:pathLst>
          </a:custGeom>
          <a:blipFill>
            <a:blip r:embed="rId3"/>
            <a:stretch>
              <a:fillRect l="-1040" t="-5012" r="0" b="-1218"/>
            </a:stretch>
          </a:blipFill>
        </p:spPr>
      </p:sp>
      <p:sp>
        <p:nvSpPr>
          <p:cNvPr name="TextBox 8" id="8"/>
          <p:cNvSpPr txBox="true"/>
          <p:nvPr/>
        </p:nvSpPr>
        <p:spPr>
          <a:xfrm rot="0">
            <a:off x="137278" y="873399"/>
            <a:ext cx="6711182" cy="1249682"/>
          </a:xfrm>
          <a:prstGeom prst="rect">
            <a:avLst/>
          </a:prstGeom>
        </p:spPr>
        <p:txBody>
          <a:bodyPr anchor="t" rtlCol="false" tIns="0" lIns="0" bIns="0" rIns="0">
            <a:spAutoFit/>
          </a:bodyPr>
          <a:lstStyle/>
          <a:p>
            <a:pPr algn="l">
              <a:lnSpc>
                <a:spcPts val="3255"/>
              </a:lnSpc>
            </a:pPr>
            <a:r>
              <a:rPr lang="en-US" sz="3100">
                <a:solidFill>
                  <a:srgbClr val="000000"/>
                </a:solidFill>
                <a:latin typeface="Gulfs Display"/>
                <a:ea typeface="Gulfs Display"/>
                <a:cs typeface="Gulfs Display"/>
                <a:sym typeface="Gulfs Display"/>
              </a:rPr>
              <a:t>ПІК НАВАНТАЖЕНЬ: </a:t>
            </a:r>
          </a:p>
          <a:p>
            <a:pPr algn="l">
              <a:lnSpc>
                <a:spcPts val="3255"/>
              </a:lnSpc>
            </a:pPr>
            <a:r>
              <a:rPr lang="en-US" sz="3100">
                <a:solidFill>
                  <a:srgbClr val="000000"/>
                </a:solidFill>
                <a:latin typeface="Gulfs Display"/>
                <a:ea typeface="Gulfs Display"/>
                <a:cs typeface="Gulfs Display"/>
                <a:sym typeface="Gulfs Display"/>
              </a:rPr>
              <a:t>(12:00–13:00) ТА (17:00–19:00)</a:t>
            </a:r>
          </a:p>
          <a:p>
            <a:pPr algn="l">
              <a:lnSpc>
                <a:spcPts val="3255"/>
              </a:lnSpc>
            </a:pPr>
            <a:r>
              <a:rPr lang="en-US" sz="3100">
                <a:solidFill>
                  <a:srgbClr val="000000"/>
                </a:solidFill>
                <a:latin typeface="Gulfs Display"/>
                <a:ea typeface="Gulfs Display"/>
                <a:cs typeface="Gulfs Display"/>
                <a:sym typeface="Gulfs Display"/>
              </a:rPr>
              <a:t>ПІК: ПʼЯТНИЦЯ</a:t>
            </a:r>
          </a:p>
        </p:txBody>
      </p:sp>
      <p:sp>
        <p:nvSpPr>
          <p:cNvPr name="TextBox 9" id="9"/>
          <p:cNvSpPr txBox="true"/>
          <p:nvPr/>
        </p:nvSpPr>
        <p:spPr>
          <a:xfrm rot="0">
            <a:off x="13887727" y="6184900"/>
            <a:ext cx="4400273" cy="4102100"/>
          </a:xfrm>
          <a:prstGeom prst="rect">
            <a:avLst/>
          </a:prstGeom>
        </p:spPr>
        <p:txBody>
          <a:bodyPr anchor="t" rtlCol="false" tIns="0" lIns="0" bIns="0" rIns="0">
            <a:spAutoFit/>
          </a:bodyPr>
          <a:lstStyle/>
          <a:p>
            <a:pPr algn="l">
              <a:lnSpc>
                <a:spcPts val="1819"/>
              </a:lnSpc>
            </a:pPr>
            <a:r>
              <a:rPr lang="en-US" sz="1299">
                <a:solidFill>
                  <a:srgbClr val="000000"/>
                </a:solidFill>
                <a:latin typeface="Canva Sans"/>
                <a:ea typeface="Canva Sans"/>
                <a:cs typeface="Canva Sans"/>
                <a:sym typeface="Canva Sans"/>
              </a:rPr>
              <a:t>S</a:t>
            </a:r>
            <a:r>
              <a:rPr lang="en-US" sz="1299" b="true">
                <a:solidFill>
                  <a:srgbClr val="000000"/>
                </a:solidFill>
                <a:latin typeface="Canva Sans Bold"/>
                <a:ea typeface="Canva Sans Bold"/>
                <a:cs typeface="Canva Sans Bold"/>
                <a:sym typeface="Canva Sans Bold"/>
              </a:rPr>
              <a:t>E</a:t>
            </a:r>
            <a:r>
              <a:rPr lang="en-US" sz="1299" b="true">
                <a:solidFill>
                  <a:srgbClr val="000000"/>
                </a:solidFill>
                <a:latin typeface="Canva Sans Bold"/>
                <a:ea typeface="Canva Sans Bold"/>
                <a:cs typeface="Canva Sans Bold"/>
                <a:sym typeface="Canva Sans Bold"/>
              </a:rPr>
              <a:t>LECT </a:t>
            </a:r>
          </a:p>
          <a:p>
            <a:pPr algn="l">
              <a:lnSpc>
                <a:spcPts val="1819"/>
              </a:lnSpc>
            </a:pPr>
            <a:r>
              <a:rPr lang="en-US" sz="1299" b="true">
                <a:solidFill>
                  <a:srgbClr val="000000"/>
                </a:solidFill>
                <a:latin typeface="Canva Sans Bold"/>
                <a:ea typeface="Canva Sans Bold"/>
                <a:cs typeface="Canva Sans Bold"/>
                <a:sym typeface="Canva Sans Bold"/>
              </a:rPr>
              <a:t>    CASE strftime('%w', date)</a:t>
            </a:r>
          </a:p>
          <a:p>
            <a:pPr algn="l">
              <a:lnSpc>
                <a:spcPts val="1819"/>
              </a:lnSpc>
            </a:pPr>
            <a:r>
              <a:rPr lang="en-US" sz="1299" b="true">
                <a:solidFill>
                  <a:srgbClr val="000000"/>
                </a:solidFill>
                <a:latin typeface="Canva Sans Bold"/>
                <a:ea typeface="Canva Sans Bold"/>
                <a:cs typeface="Canva Sans Bold"/>
                <a:sym typeface="Canva Sans Bold"/>
              </a:rPr>
              <a:t>        WHEN '1' THEN '1. Понеділок'</a:t>
            </a:r>
          </a:p>
          <a:p>
            <a:pPr algn="l">
              <a:lnSpc>
                <a:spcPts val="1819"/>
              </a:lnSpc>
            </a:pPr>
            <a:r>
              <a:rPr lang="en-US" sz="1299" b="true">
                <a:solidFill>
                  <a:srgbClr val="000000"/>
                </a:solidFill>
                <a:latin typeface="Canva Sans Bold"/>
                <a:ea typeface="Canva Sans Bold"/>
                <a:cs typeface="Canva Sans Bold"/>
                <a:sym typeface="Canva Sans Bold"/>
              </a:rPr>
              <a:t>        WHEN '2' THEN '2. Вівторок'</a:t>
            </a:r>
          </a:p>
          <a:p>
            <a:pPr algn="l">
              <a:lnSpc>
                <a:spcPts val="1819"/>
              </a:lnSpc>
            </a:pPr>
            <a:r>
              <a:rPr lang="en-US" sz="1299" b="true">
                <a:solidFill>
                  <a:srgbClr val="000000"/>
                </a:solidFill>
                <a:latin typeface="Canva Sans Bold"/>
                <a:ea typeface="Canva Sans Bold"/>
                <a:cs typeface="Canva Sans Bold"/>
                <a:sym typeface="Canva Sans Bold"/>
              </a:rPr>
              <a:t>        WHEN '3' THEN '3. Середа'</a:t>
            </a:r>
          </a:p>
          <a:p>
            <a:pPr algn="l">
              <a:lnSpc>
                <a:spcPts val="1819"/>
              </a:lnSpc>
            </a:pPr>
            <a:r>
              <a:rPr lang="en-US" sz="1299" b="true">
                <a:solidFill>
                  <a:srgbClr val="000000"/>
                </a:solidFill>
                <a:latin typeface="Canva Sans Bold"/>
                <a:ea typeface="Canva Sans Bold"/>
                <a:cs typeface="Canva Sans Bold"/>
                <a:sym typeface="Canva Sans Bold"/>
              </a:rPr>
              <a:t>        WHEN '4' THEN '4. Четвер'</a:t>
            </a:r>
          </a:p>
          <a:p>
            <a:pPr algn="l">
              <a:lnSpc>
                <a:spcPts val="1819"/>
              </a:lnSpc>
            </a:pPr>
            <a:r>
              <a:rPr lang="en-US" sz="1299" b="true">
                <a:solidFill>
                  <a:srgbClr val="000000"/>
                </a:solidFill>
                <a:latin typeface="Canva Sans Bold"/>
                <a:ea typeface="Canva Sans Bold"/>
                <a:cs typeface="Canva Sans Bold"/>
                <a:sym typeface="Canva Sans Bold"/>
              </a:rPr>
              <a:t>        WHEN '5' THEN '5. П’ятниця'</a:t>
            </a:r>
          </a:p>
          <a:p>
            <a:pPr algn="l">
              <a:lnSpc>
                <a:spcPts val="1819"/>
              </a:lnSpc>
            </a:pPr>
            <a:r>
              <a:rPr lang="en-US" sz="1299" b="true">
                <a:solidFill>
                  <a:srgbClr val="000000"/>
                </a:solidFill>
                <a:latin typeface="Canva Sans Bold"/>
                <a:ea typeface="Canva Sans Bold"/>
                <a:cs typeface="Canva Sans Bold"/>
                <a:sym typeface="Canva Sans Bold"/>
              </a:rPr>
              <a:t>        WHEN '6' THEN '6. Субота'</a:t>
            </a:r>
          </a:p>
          <a:p>
            <a:pPr algn="l">
              <a:lnSpc>
                <a:spcPts val="1819"/>
              </a:lnSpc>
            </a:pPr>
            <a:r>
              <a:rPr lang="en-US" sz="1299" b="true">
                <a:solidFill>
                  <a:srgbClr val="000000"/>
                </a:solidFill>
                <a:latin typeface="Canva Sans Bold"/>
                <a:ea typeface="Canva Sans Bold"/>
                <a:cs typeface="Canva Sans Bold"/>
                <a:sym typeface="Canva Sans Bold"/>
              </a:rPr>
              <a:t>        WHEN '0' THEN '7. Неділя'</a:t>
            </a:r>
          </a:p>
          <a:p>
            <a:pPr algn="l">
              <a:lnSpc>
                <a:spcPts val="1819"/>
              </a:lnSpc>
              <a:spcBef>
                <a:spcPct val="0"/>
              </a:spcBef>
            </a:pPr>
            <a:r>
              <a:rPr lang="en-US" b="true" sz="1299">
                <a:solidFill>
                  <a:srgbClr val="000000"/>
                </a:solidFill>
                <a:latin typeface="Canva Sans Bold"/>
                <a:ea typeface="Canva Sans Bold"/>
                <a:cs typeface="Canva Sans Bold"/>
                <a:sym typeface="Canva Sans Bold"/>
              </a:rPr>
              <a:t>    END AS day_of_we</a:t>
            </a:r>
            <a:r>
              <a:rPr lang="en-US" b="true" sz="1299">
                <a:solidFill>
                  <a:srgbClr val="000000"/>
                </a:solidFill>
                <a:latin typeface="Canva Sans Bold"/>
                <a:ea typeface="Canva Sans Bold"/>
                <a:cs typeface="Canva Sans Bold"/>
                <a:sym typeface="Canva Sans Bold"/>
              </a:rPr>
              <a:t>ek,</a:t>
            </a:r>
          </a:p>
          <a:p>
            <a:pPr algn="l">
              <a:lnSpc>
                <a:spcPts val="1819"/>
              </a:lnSpc>
              <a:spcBef>
                <a:spcPct val="0"/>
              </a:spcBef>
            </a:pPr>
            <a:r>
              <a:rPr lang="en-US" b="true" sz="1299">
                <a:solidFill>
                  <a:srgbClr val="000000"/>
                </a:solidFill>
                <a:latin typeface="Canva Sans Bold"/>
                <a:ea typeface="Canva Sans Bold"/>
                <a:cs typeface="Canva Sans Bold"/>
                <a:sym typeface="Canva Sans Bold"/>
              </a:rPr>
              <a:t>    COUNT(DISTINCT order_id) AS total_orders,</a:t>
            </a:r>
          </a:p>
          <a:p>
            <a:pPr algn="l">
              <a:lnSpc>
                <a:spcPts val="1819"/>
              </a:lnSpc>
              <a:spcBef>
                <a:spcPct val="0"/>
              </a:spcBef>
            </a:pPr>
            <a:r>
              <a:rPr lang="en-US" b="true" sz="1299">
                <a:solidFill>
                  <a:srgbClr val="000000"/>
                </a:solidFill>
                <a:latin typeface="Canva Sans Bold"/>
                <a:ea typeface="Canva Sans Bold"/>
                <a:cs typeface="Canva Sans Bold"/>
                <a:sym typeface="Canva Sans Bold"/>
              </a:rPr>
              <a:t>    COUNT(DISTINCT date) AS total_days_count,</a:t>
            </a:r>
          </a:p>
          <a:p>
            <a:pPr algn="l">
              <a:lnSpc>
                <a:spcPts val="1819"/>
              </a:lnSpc>
              <a:spcBef>
                <a:spcPct val="0"/>
              </a:spcBef>
            </a:pPr>
            <a:r>
              <a:rPr lang="en-US" b="true" sz="1299">
                <a:solidFill>
                  <a:srgbClr val="000000"/>
                </a:solidFill>
                <a:latin typeface="Canva Sans Bold"/>
                <a:ea typeface="Canva Sans Bold"/>
                <a:cs typeface="Canva Sans Bold"/>
                <a:sym typeface="Canva Sans Bold"/>
              </a:rPr>
              <a:t>    ROUND(CAST(COUNT(DISTINCT order_id) AS REAL) / COUNT(DISTINCT date), 2) AS avg_orders_per_day</a:t>
            </a:r>
          </a:p>
          <a:p>
            <a:pPr algn="l">
              <a:lnSpc>
                <a:spcPts val="1819"/>
              </a:lnSpc>
              <a:spcBef>
                <a:spcPct val="0"/>
              </a:spcBef>
            </a:pPr>
            <a:r>
              <a:rPr lang="en-US" b="true" sz="1299">
                <a:solidFill>
                  <a:srgbClr val="000000"/>
                </a:solidFill>
                <a:latin typeface="Canva Sans Bold"/>
                <a:ea typeface="Canva Sans Bold"/>
                <a:cs typeface="Canva Sans Bold"/>
                <a:sym typeface="Canva Sans Bold"/>
              </a:rPr>
              <a:t>FROM orders</a:t>
            </a:r>
          </a:p>
          <a:p>
            <a:pPr algn="l">
              <a:lnSpc>
                <a:spcPts val="1819"/>
              </a:lnSpc>
              <a:spcBef>
                <a:spcPct val="0"/>
              </a:spcBef>
            </a:pPr>
            <a:r>
              <a:rPr lang="en-US" b="true" sz="1299">
                <a:solidFill>
                  <a:srgbClr val="000000"/>
                </a:solidFill>
                <a:latin typeface="Canva Sans Bold"/>
                <a:ea typeface="Canva Sans Bold"/>
                <a:cs typeface="Canva Sans Bold"/>
                <a:sym typeface="Canva Sans Bold"/>
              </a:rPr>
              <a:t>GROUP BY strftime('%w', date)</a:t>
            </a:r>
          </a:p>
          <a:p>
            <a:pPr algn="l">
              <a:lnSpc>
                <a:spcPts val="1819"/>
              </a:lnSpc>
              <a:spcBef>
                <a:spcPct val="0"/>
              </a:spcBef>
            </a:pPr>
            <a:r>
              <a:rPr lang="en-US" b="true" sz="1299">
                <a:solidFill>
                  <a:srgbClr val="000000"/>
                </a:solidFill>
                <a:latin typeface="Canva Sans Bold"/>
                <a:ea typeface="Canva Sans Bold"/>
                <a:cs typeface="Canva Sans Bold"/>
                <a:sym typeface="Canva Sans Bold"/>
              </a:rPr>
              <a:t>ORDER BY strftime('%w', date);</a:t>
            </a:r>
          </a:p>
          <a:p>
            <a:pPr algn="l">
              <a:lnSpc>
                <a:spcPts val="1679"/>
              </a:lnSpc>
              <a:spcBef>
                <a:spcPct val="0"/>
              </a:spcBef>
            </a:pPr>
          </a:p>
        </p:txBody>
      </p:sp>
      <p:sp>
        <p:nvSpPr>
          <p:cNvPr name="TextBox 10" id="10"/>
          <p:cNvSpPr txBox="true"/>
          <p:nvPr/>
        </p:nvSpPr>
        <p:spPr>
          <a:xfrm rot="0">
            <a:off x="137278" y="57150"/>
            <a:ext cx="13854353" cy="912495"/>
          </a:xfrm>
          <a:prstGeom prst="rect">
            <a:avLst/>
          </a:prstGeom>
        </p:spPr>
        <p:txBody>
          <a:bodyPr anchor="t" rtlCol="false" tIns="0" lIns="0" bIns="0" rIns="0">
            <a:spAutoFit/>
          </a:bodyPr>
          <a:lstStyle/>
          <a:p>
            <a:pPr algn="l">
              <a:lnSpc>
                <a:spcPts val="3989"/>
              </a:lnSpc>
            </a:pPr>
            <a:r>
              <a:rPr lang="en-US" sz="3799">
                <a:solidFill>
                  <a:srgbClr val="5C3421"/>
                </a:solidFill>
                <a:latin typeface="Canva Sans"/>
                <a:ea typeface="Canva Sans"/>
                <a:cs typeface="Canva Sans"/>
                <a:sym typeface="Canva Sans"/>
              </a:rPr>
              <a:t>Навантаження за днями тижня та годинами</a:t>
            </a:r>
          </a:p>
          <a:p>
            <a:pPr algn="l">
              <a:lnSpc>
                <a:spcPts val="3150"/>
              </a:lnSpc>
            </a:pPr>
          </a:p>
        </p:txBody>
      </p:sp>
      <p:sp>
        <p:nvSpPr>
          <p:cNvPr name="TextBox 11" id="11"/>
          <p:cNvSpPr txBox="true"/>
          <p:nvPr/>
        </p:nvSpPr>
        <p:spPr>
          <a:xfrm rot="0">
            <a:off x="0" y="2407222"/>
            <a:ext cx="7187958" cy="2736278"/>
          </a:xfrm>
          <a:prstGeom prst="rect">
            <a:avLst/>
          </a:prstGeom>
        </p:spPr>
        <p:txBody>
          <a:bodyPr anchor="t" rtlCol="false" tIns="0" lIns="0" bIns="0" rIns="0">
            <a:spAutoFit/>
          </a:bodyPr>
          <a:lstStyle/>
          <a:p>
            <a:pPr algn="l">
              <a:lnSpc>
                <a:spcPts val="2744"/>
              </a:lnSpc>
              <a:spcBef>
                <a:spcPct val="0"/>
              </a:spcBef>
            </a:pPr>
            <a:r>
              <a:rPr lang="en-US" sz="1960">
                <a:solidFill>
                  <a:srgbClr val="000000"/>
                </a:solidFill>
                <a:latin typeface="Canva Sans"/>
                <a:ea typeface="Canva Sans"/>
                <a:cs typeface="Canva Sans"/>
                <a:sym typeface="Canva Sans"/>
              </a:rPr>
              <a:t>Найбільше</a:t>
            </a:r>
            <a:r>
              <a:rPr lang="en-US" sz="1960">
                <a:solidFill>
                  <a:srgbClr val="000000"/>
                </a:solidFill>
                <a:latin typeface="Canva Sans"/>
                <a:ea typeface="Canva Sans"/>
                <a:cs typeface="Canva Sans"/>
                <a:sym typeface="Canva Sans"/>
              </a:rPr>
              <a:t> замовлень в середньому приходиться на Пʼятницю(70.76), а найменше в Неділю(50.46), решта мають діапазон 57-62. Найбільший пік навантаження припадає на обідній (12:00–13:00) та вечірній</a:t>
            </a:r>
            <a:r>
              <a:rPr lang="en-US" sz="1960">
                <a:solidFill>
                  <a:srgbClr val="000000"/>
                </a:solidFill>
                <a:latin typeface="Canva Sans"/>
                <a:ea typeface="Canva Sans"/>
                <a:cs typeface="Canva Sans"/>
                <a:sym typeface="Canva Sans"/>
              </a:rPr>
              <a:t> (17:00–19:00) час із максимумом о 12 годині (2520 замовлень), тоді як глибоке затишшя спостерігається на початку та наприкінці робочого дня — о 9.00 ранку та після 22.00 вечора.</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EDCF"/>
        </a:solidFill>
      </p:bgPr>
    </p:bg>
    <p:spTree>
      <p:nvGrpSpPr>
        <p:cNvPr id="1" name=""/>
        <p:cNvGrpSpPr/>
        <p:nvPr/>
      </p:nvGrpSpPr>
      <p:grpSpPr>
        <a:xfrm>
          <a:off x="0" y="0"/>
          <a:ext cx="0" cy="0"/>
          <a:chOff x="0" y="0"/>
          <a:chExt cx="0" cy="0"/>
        </a:xfrm>
      </p:grpSpPr>
      <p:grpSp>
        <p:nvGrpSpPr>
          <p:cNvPr name="Group 2" id="2"/>
          <p:cNvGrpSpPr/>
          <p:nvPr/>
        </p:nvGrpSpPr>
        <p:grpSpPr>
          <a:xfrm rot="-10800000">
            <a:off x="12142313" y="2300967"/>
            <a:ext cx="5003047" cy="8537548"/>
            <a:chOff x="0" y="0"/>
            <a:chExt cx="764922" cy="1305316"/>
          </a:xfrm>
        </p:grpSpPr>
        <p:sp>
          <p:nvSpPr>
            <p:cNvPr name="Freeform 3" id="3"/>
            <p:cNvSpPr/>
            <p:nvPr/>
          </p:nvSpPr>
          <p:spPr>
            <a:xfrm flipH="false" flipV="false" rot="0">
              <a:off x="0" y="0"/>
              <a:ext cx="764922" cy="1305316"/>
            </a:xfrm>
            <a:custGeom>
              <a:avLst/>
              <a:gdLst/>
              <a:ahLst/>
              <a:cxnLst/>
              <a:rect r="r" b="b" t="t" l="l"/>
              <a:pathLst>
                <a:path h="1305316" w="764922">
                  <a:moveTo>
                    <a:pt x="255112" y="1286247"/>
                  </a:moveTo>
                  <a:cubicBezTo>
                    <a:pt x="294327" y="1297760"/>
                    <a:pt x="338910" y="1305316"/>
                    <a:pt x="382667" y="1305316"/>
                  </a:cubicBezTo>
                  <a:cubicBezTo>
                    <a:pt x="426425" y="1305316"/>
                    <a:pt x="468531" y="1298839"/>
                    <a:pt x="507333" y="1287325"/>
                  </a:cubicBezTo>
                  <a:cubicBezTo>
                    <a:pt x="508160" y="1286965"/>
                    <a:pt x="508985" y="1286965"/>
                    <a:pt x="509810" y="1286606"/>
                  </a:cubicBezTo>
                  <a:cubicBezTo>
                    <a:pt x="655529" y="1240551"/>
                    <a:pt x="762858" y="1118937"/>
                    <a:pt x="764922" y="965874"/>
                  </a:cubicBezTo>
                  <a:lnTo>
                    <a:pt x="764922" y="0"/>
                  </a:lnTo>
                  <a:lnTo>
                    <a:pt x="0" y="0"/>
                  </a:lnTo>
                  <a:lnTo>
                    <a:pt x="0" y="965157"/>
                  </a:lnTo>
                  <a:cubicBezTo>
                    <a:pt x="2064" y="1119656"/>
                    <a:pt x="107741" y="1241271"/>
                    <a:pt x="255112" y="1286247"/>
                  </a:cubicBezTo>
                  <a:close/>
                </a:path>
              </a:pathLst>
            </a:custGeom>
            <a:solidFill>
              <a:srgbClr val="FA5733"/>
            </a:solidFill>
            <a:ln w="57150" cap="sq">
              <a:solidFill>
                <a:srgbClr val="000000"/>
              </a:solidFill>
              <a:prstDash val="solid"/>
              <a:miter/>
            </a:ln>
          </p:spPr>
        </p:sp>
        <p:sp>
          <p:nvSpPr>
            <p:cNvPr name="TextBox 4" id="4"/>
            <p:cNvSpPr txBox="true"/>
            <p:nvPr/>
          </p:nvSpPr>
          <p:spPr>
            <a:xfrm>
              <a:off x="0" y="-38100"/>
              <a:ext cx="764922" cy="121641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2386885" y="2649114"/>
            <a:ext cx="4513904" cy="4513904"/>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25046" t="0" r="-25046" b="0"/>
              </a:stretch>
            </a:blipFill>
          </p:spPr>
        </p:sp>
      </p:grpSp>
      <p:sp>
        <p:nvSpPr>
          <p:cNvPr name="TextBox 7" id="7"/>
          <p:cNvSpPr txBox="true"/>
          <p:nvPr/>
        </p:nvSpPr>
        <p:spPr>
          <a:xfrm rot="0">
            <a:off x="0" y="123825"/>
            <a:ext cx="13146359" cy="1895475"/>
          </a:xfrm>
          <a:prstGeom prst="rect">
            <a:avLst/>
          </a:prstGeom>
        </p:spPr>
        <p:txBody>
          <a:bodyPr anchor="t" rtlCol="false" tIns="0" lIns="0" bIns="0" rIns="0">
            <a:spAutoFit/>
          </a:bodyPr>
          <a:lstStyle/>
          <a:p>
            <a:pPr algn="l">
              <a:lnSpc>
                <a:spcPts val="7349"/>
              </a:lnSpc>
            </a:pPr>
            <a:r>
              <a:rPr lang="en-US" sz="6999">
                <a:solidFill>
                  <a:srgbClr val="000000"/>
                </a:solidFill>
                <a:latin typeface="Gulfs Display"/>
                <a:ea typeface="Gulfs Display"/>
                <a:cs typeface="Gulfs Display"/>
                <a:sym typeface="Gulfs Display"/>
              </a:rPr>
              <a:t>БЕСТСЕЛЕРИ ТА АУТСАЙДЕРИ:</a:t>
            </a:r>
          </a:p>
          <a:p>
            <a:pPr algn="l">
              <a:lnSpc>
                <a:spcPts val="7349"/>
              </a:lnSpc>
            </a:pPr>
          </a:p>
        </p:txBody>
      </p:sp>
      <p:sp>
        <p:nvSpPr>
          <p:cNvPr name="TextBox 8" id="8"/>
          <p:cNvSpPr txBox="true"/>
          <p:nvPr/>
        </p:nvSpPr>
        <p:spPr>
          <a:xfrm rot="0">
            <a:off x="7742041" y="5478780"/>
            <a:ext cx="4400273" cy="4808220"/>
          </a:xfrm>
          <a:prstGeom prst="rect">
            <a:avLst/>
          </a:prstGeom>
        </p:spPr>
        <p:txBody>
          <a:bodyPr anchor="t" rtlCol="false" tIns="0" lIns="0" bIns="0" rIns="0">
            <a:spAutoFit/>
          </a:bodyPr>
          <a:lstStyle/>
          <a:p>
            <a:pPr algn="l">
              <a:lnSpc>
                <a:spcPts val="1679"/>
              </a:lnSpc>
            </a:pPr>
            <a:r>
              <a:rPr lang="en-US" sz="1200">
                <a:solidFill>
                  <a:srgbClr val="000000"/>
                </a:solidFill>
                <a:latin typeface="Canva Sans"/>
                <a:ea typeface="Canva Sans"/>
                <a:cs typeface="Canva Sans"/>
                <a:sym typeface="Canva Sans"/>
              </a:rPr>
              <a:t>-</a:t>
            </a:r>
            <a:r>
              <a:rPr lang="en-US" sz="1200" b="true">
                <a:solidFill>
                  <a:srgbClr val="000000"/>
                </a:solidFill>
                <a:latin typeface="Canva Sans Bold"/>
                <a:ea typeface="Canva Sans Bold"/>
                <a:cs typeface="Canva Sans Bold"/>
                <a:sym typeface="Canva Sans Bold"/>
              </a:rPr>
              <a:t>-ТОП-5 бестселерів (найкращі за виручкою)</a:t>
            </a:r>
          </a:p>
          <a:p>
            <a:pPr algn="l">
              <a:lnSpc>
                <a:spcPts val="1679"/>
              </a:lnSpc>
            </a:pPr>
            <a:r>
              <a:rPr lang="en-US" sz="1200" b="true">
                <a:solidFill>
                  <a:srgbClr val="000000"/>
                </a:solidFill>
                <a:latin typeface="Canva Sans Bold"/>
                <a:ea typeface="Canva Sans Bold"/>
                <a:cs typeface="Canva Sans Bold"/>
                <a:sym typeface="Canva Sans Bold"/>
              </a:rPr>
              <a:t>SELECT </a:t>
            </a:r>
          </a:p>
          <a:p>
            <a:pPr algn="l">
              <a:lnSpc>
                <a:spcPts val="1679"/>
              </a:lnSpc>
            </a:pPr>
            <a:r>
              <a:rPr lang="en-US" sz="1200" b="true">
                <a:solidFill>
                  <a:srgbClr val="000000"/>
                </a:solidFill>
                <a:latin typeface="Canva Sans Bold"/>
                <a:ea typeface="Canva Sans Bold"/>
                <a:cs typeface="Canva Sans Bold"/>
                <a:sym typeface="Canva Sans Bold"/>
              </a:rPr>
              <a:t>    pt.name AS pizza_name,</a:t>
            </a:r>
          </a:p>
          <a:p>
            <a:pPr algn="l">
              <a:lnSpc>
                <a:spcPts val="1679"/>
              </a:lnSpc>
            </a:pPr>
            <a:r>
              <a:rPr lang="en-US" sz="1200" b="true">
                <a:solidFill>
                  <a:srgbClr val="000000"/>
                </a:solidFill>
                <a:latin typeface="Canva Sans Bold"/>
                <a:ea typeface="Canva Sans Bold"/>
                <a:cs typeface="Canva Sans Bold"/>
                <a:sym typeface="Canva Sans Bold"/>
              </a:rPr>
              <a:t>    SUM(od.quantity) AS total_quantity,</a:t>
            </a:r>
          </a:p>
          <a:p>
            <a:pPr algn="l">
              <a:lnSpc>
                <a:spcPts val="1679"/>
              </a:lnSpc>
            </a:pPr>
            <a:r>
              <a:rPr lang="en-US" sz="1200" b="true">
                <a:solidFill>
                  <a:srgbClr val="000000"/>
                </a:solidFill>
                <a:latin typeface="Canva Sans Bold"/>
                <a:ea typeface="Canva Sans Bold"/>
                <a:cs typeface="Canva Sans Bold"/>
                <a:sym typeface="Canva Sans Bold"/>
              </a:rPr>
              <a:t>    ROUND(SUM(p.price * od.quantity), 2) AS total_revenue</a:t>
            </a:r>
          </a:p>
          <a:p>
            <a:pPr algn="l">
              <a:lnSpc>
                <a:spcPts val="1679"/>
              </a:lnSpc>
            </a:pPr>
            <a:r>
              <a:rPr lang="en-US" sz="1200" b="true">
                <a:solidFill>
                  <a:srgbClr val="000000"/>
                </a:solidFill>
                <a:latin typeface="Canva Sans Bold"/>
                <a:ea typeface="Canva Sans Bold"/>
                <a:cs typeface="Canva Sans Bold"/>
                <a:sym typeface="Canva Sans Bold"/>
              </a:rPr>
              <a:t>FROM order_details od</a:t>
            </a:r>
          </a:p>
          <a:p>
            <a:pPr algn="l">
              <a:lnSpc>
                <a:spcPts val="1679"/>
              </a:lnSpc>
            </a:pPr>
            <a:r>
              <a:rPr lang="en-US" sz="1200" b="true">
                <a:solidFill>
                  <a:srgbClr val="000000"/>
                </a:solidFill>
                <a:latin typeface="Canva Sans Bold"/>
                <a:ea typeface="Canva Sans Bold"/>
                <a:cs typeface="Canva Sans Bold"/>
                <a:sym typeface="Canva Sans Bold"/>
              </a:rPr>
              <a:t>JOIN pizzas p ON od.pizza_id = p.pizza_id</a:t>
            </a:r>
          </a:p>
          <a:p>
            <a:pPr algn="l">
              <a:lnSpc>
                <a:spcPts val="1679"/>
              </a:lnSpc>
            </a:pPr>
            <a:r>
              <a:rPr lang="en-US" sz="1200" b="true">
                <a:solidFill>
                  <a:srgbClr val="000000"/>
                </a:solidFill>
                <a:latin typeface="Canva Sans Bold"/>
                <a:ea typeface="Canva Sans Bold"/>
                <a:cs typeface="Canva Sans Bold"/>
                <a:sym typeface="Canva Sans Bold"/>
              </a:rPr>
              <a:t>JOIN pizza_types pt ON p.pizza_type_id = pt.pizza_type_id</a:t>
            </a:r>
          </a:p>
          <a:p>
            <a:pPr algn="l">
              <a:lnSpc>
                <a:spcPts val="1679"/>
              </a:lnSpc>
            </a:pPr>
            <a:r>
              <a:rPr lang="en-US" sz="1200" b="true">
                <a:solidFill>
                  <a:srgbClr val="000000"/>
                </a:solidFill>
                <a:latin typeface="Canva Sans Bold"/>
                <a:ea typeface="Canva Sans Bold"/>
                <a:cs typeface="Canva Sans Bold"/>
                <a:sym typeface="Canva Sans Bold"/>
              </a:rPr>
              <a:t>GROUP BY pt.name</a:t>
            </a:r>
          </a:p>
          <a:p>
            <a:pPr algn="l">
              <a:lnSpc>
                <a:spcPts val="1679"/>
              </a:lnSpc>
            </a:pPr>
            <a:r>
              <a:rPr lang="en-US" sz="1200" b="true">
                <a:solidFill>
                  <a:srgbClr val="000000"/>
                </a:solidFill>
                <a:latin typeface="Canva Sans Bold"/>
                <a:ea typeface="Canva Sans Bold"/>
                <a:cs typeface="Canva Sans Bold"/>
                <a:sym typeface="Canva Sans Bold"/>
              </a:rPr>
              <a:t>ORDER BY total_revenue DESC</a:t>
            </a:r>
          </a:p>
          <a:p>
            <a:pPr algn="l">
              <a:lnSpc>
                <a:spcPts val="1679"/>
              </a:lnSpc>
            </a:pPr>
            <a:r>
              <a:rPr lang="en-US" sz="1200" b="true">
                <a:solidFill>
                  <a:srgbClr val="000000"/>
                </a:solidFill>
                <a:latin typeface="Canva Sans Bold"/>
                <a:ea typeface="Canva Sans Bold"/>
                <a:cs typeface="Canva Sans Bold"/>
                <a:sym typeface="Canva Sans Bold"/>
              </a:rPr>
              <a:t>LIMIT 5;</a:t>
            </a:r>
          </a:p>
          <a:p>
            <a:pPr algn="l">
              <a:lnSpc>
                <a:spcPts val="1679"/>
              </a:lnSpc>
            </a:pPr>
            <a:r>
              <a:rPr lang="en-US" sz="1200" b="true">
                <a:solidFill>
                  <a:srgbClr val="000000"/>
                </a:solidFill>
                <a:latin typeface="Canva Sans Bold"/>
                <a:ea typeface="Canva Sans Bold"/>
                <a:cs typeface="Canva Sans Bold"/>
                <a:sym typeface="Canva Sans Bold"/>
              </a:rPr>
              <a:t>--Топ-5 аутсайдерів (найгірші за виручкою)</a:t>
            </a:r>
          </a:p>
          <a:p>
            <a:pPr algn="l">
              <a:lnSpc>
                <a:spcPts val="1679"/>
              </a:lnSpc>
            </a:pPr>
            <a:r>
              <a:rPr lang="en-US" sz="1200" b="true">
                <a:solidFill>
                  <a:srgbClr val="000000"/>
                </a:solidFill>
                <a:latin typeface="Canva Sans Bold"/>
                <a:ea typeface="Canva Sans Bold"/>
                <a:cs typeface="Canva Sans Bold"/>
                <a:sym typeface="Canva Sans Bold"/>
              </a:rPr>
              <a:t>SELECT </a:t>
            </a:r>
          </a:p>
          <a:p>
            <a:pPr algn="l">
              <a:lnSpc>
                <a:spcPts val="1679"/>
              </a:lnSpc>
            </a:pPr>
            <a:r>
              <a:rPr lang="en-US" sz="1200" b="true">
                <a:solidFill>
                  <a:srgbClr val="000000"/>
                </a:solidFill>
                <a:latin typeface="Canva Sans Bold"/>
                <a:ea typeface="Canva Sans Bold"/>
                <a:cs typeface="Canva Sans Bold"/>
                <a:sym typeface="Canva Sans Bold"/>
              </a:rPr>
              <a:t>    pt.name AS pizza_name,</a:t>
            </a:r>
          </a:p>
          <a:p>
            <a:pPr algn="l">
              <a:lnSpc>
                <a:spcPts val="1679"/>
              </a:lnSpc>
            </a:pPr>
            <a:r>
              <a:rPr lang="en-US" sz="1200" b="true">
                <a:solidFill>
                  <a:srgbClr val="000000"/>
                </a:solidFill>
                <a:latin typeface="Canva Sans Bold"/>
                <a:ea typeface="Canva Sans Bold"/>
                <a:cs typeface="Canva Sans Bold"/>
                <a:sym typeface="Canva Sans Bold"/>
              </a:rPr>
              <a:t>    SUM(od.quantity) AS total_quantity,</a:t>
            </a:r>
          </a:p>
          <a:p>
            <a:pPr algn="l">
              <a:lnSpc>
                <a:spcPts val="1679"/>
              </a:lnSpc>
            </a:pPr>
            <a:r>
              <a:rPr lang="en-US" sz="1200" b="true">
                <a:solidFill>
                  <a:srgbClr val="000000"/>
                </a:solidFill>
                <a:latin typeface="Canva Sans Bold"/>
                <a:ea typeface="Canva Sans Bold"/>
                <a:cs typeface="Canva Sans Bold"/>
                <a:sym typeface="Canva Sans Bold"/>
              </a:rPr>
              <a:t>    ROUND(SUM(p.price * od.quantity), 2) AS total_revenue</a:t>
            </a:r>
          </a:p>
          <a:p>
            <a:pPr algn="l">
              <a:lnSpc>
                <a:spcPts val="1679"/>
              </a:lnSpc>
            </a:pPr>
            <a:r>
              <a:rPr lang="en-US" sz="1200" b="true">
                <a:solidFill>
                  <a:srgbClr val="000000"/>
                </a:solidFill>
                <a:latin typeface="Canva Sans Bold"/>
                <a:ea typeface="Canva Sans Bold"/>
                <a:cs typeface="Canva Sans Bold"/>
                <a:sym typeface="Canva Sans Bold"/>
              </a:rPr>
              <a:t>FROM order_details od</a:t>
            </a:r>
          </a:p>
          <a:p>
            <a:pPr algn="l">
              <a:lnSpc>
                <a:spcPts val="1679"/>
              </a:lnSpc>
            </a:pPr>
            <a:r>
              <a:rPr lang="en-US" sz="1200" b="true">
                <a:solidFill>
                  <a:srgbClr val="000000"/>
                </a:solidFill>
                <a:latin typeface="Canva Sans Bold"/>
                <a:ea typeface="Canva Sans Bold"/>
                <a:cs typeface="Canva Sans Bold"/>
                <a:sym typeface="Canva Sans Bold"/>
              </a:rPr>
              <a:t>JOIN pizzas p ON od.pizza_id = p.pizza_id</a:t>
            </a:r>
          </a:p>
          <a:p>
            <a:pPr algn="l">
              <a:lnSpc>
                <a:spcPts val="1679"/>
              </a:lnSpc>
            </a:pPr>
            <a:r>
              <a:rPr lang="en-US" sz="1200" b="true">
                <a:solidFill>
                  <a:srgbClr val="000000"/>
                </a:solidFill>
                <a:latin typeface="Canva Sans Bold"/>
                <a:ea typeface="Canva Sans Bold"/>
                <a:cs typeface="Canva Sans Bold"/>
                <a:sym typeface="Canva Sans Bold"/>
              </a:rPr>
              <a:t>JOIN pizza_types pt ON p.pizza_type_id = pt.pizza_type_id</a:t>
            </a:r>
          </a:p>
          <a:p>
            <a:pPr algn="l">
              <a:lnSpc>
                <a:spcPts val="1679"/>
              </a:lnSpc>
            </a:pPr>
            <a:r>
              <a:rPr lang="en-US" sz="1200" b="true">
                <a:solidFill>
                  <a:srgbClr val="000000"/>
                </a:solidFill>
                <a:latin typeface="Canva Sans Bold"/>
                <a:ea typeface="Canva Sans Bold"/>
                <a:cs typeface="Canva Sans Bold"/>
                <a:sym typeface="Canva Sans Bold"/>
              </a:rPr>
              <a:t>GROUP BY pt.name</a:t>
            </a:r>
          </a:p>
          <a:p>
            <a:pPr algn="l">
              <a:lnSpc>
                <a:spcPts val="1679"/>
              </a:lnSpc>
            </a:pPr>
            <a:r>
              <a:rPr lang="en-US" sz="1200" b="true">
                <a:solidFill>
                  <a:srgbClr val="000000"/>
                </a:solidFill>
                <a:latin typeface="Canva Sans Bold"/>
                <a:ea typeface="Canva Sans Bold"/>
                <a:cs typeface="Canva Sans Bold"/>
                <a:sym typeface="Canva Sans Bold"/>
              </a:rPr>
              <a:t>ORDER BY total_revenue ASC</a:t>
            </a:r>
          </a:p>
          <a:p>
            <a:pPr algn="l">
              <a:lnSpc>
                <a:spcPts val="1679"/>
              </a:lnSpc>
            </a:pPr>
            <a:r>
              <a:rPr lang="en-US" sz="1200" b="true">
                <a:solidFill>
                  <a:srgbClr val="000000"/>
                </a:solidFill>
                <a:latin typeface="Canva Sans Bold"/>
                <a:ea typeface="Canva Sans Bold"/>
                <a:cs typeface="Canva Sans Bold"/>
                <a:sym typeface="Canva Sans Bold"/>
              </a:rPr>
              <a:t>LIMIT 5;</a:t>
            </a:r>
          </a:p>
          <a:p>
            <a:pPr algn="l">
              <a:lnSpc>
                <a:spcPts val="1679"/>
              </a:lnSpc>
              <a:spcBef>
                <a:spcPct val="0"/>
              </a:spcBef>
            </a:pPr>
          </a:p>
        </p:txBody>
      </p:sp>
      <p:sp>
        <p:nvSpPr>
          <p:cNvPr name="TextBox 9" id="9"/>
          <p:cNvSpPr txBox="true"/>
          <p:nvPr/>
        </p:nvSpPr>
        <p:spPr>
          <a:xfrm rot="0">
            <a:off x="0" y="1785293"/>
            <a:ext cx="9470269" cy="1647825"/>
          </a:xfrm>
          <a:prstGeom prst="rect">
            <a:avLst/>
          </a:prstGeom>
        </p:spPr>
        <p:txBody>
          <a:bodyPr anchor="t" rtlCol="false" tIns="0" lIns="0" bIns="0" rIns="0">
            <a:spAutoFit/>
          </a:bodyPr>
          <a:lstStyle/>
          <a:p>
            <a:pPr algn="l">
              <a:lnSpc>
                <a:spcPts val="2730"/>
              </a:lnSpc>
            </a:pPr>
            <a:r>
              <a:rPr lang="en-US" sz="2600" b="true">
                <a:solidFill>
                  <a:srgbClr val="5C3421"/>
                </a:solidFill>
                <a:latin typeface="Canva Sans Bold"/>
                <a:ea typeface="Canva Sans Bold"/>
                <a:cs typeface="Canva Sans Bold"/>
                <a:sym typeface="Canva Sans Bold"/>
              </a:rPr>
              <a:t>Лідером за виторгом є The Thai Chicken Pizza (43 434.25)</a:t>
            </a:r>
            <a:r>
              <a:rPr lang="en-US" sz="2600">
                <a:solidFill>
                  <a:srgbClr val="000000"/>
                </a:solidFill>
                <a:latin typeface="Canva Sans"/>
                <a:ea typeface="Canva Sans"/>
                <a:cs typeface="Canva Sans"/>
                <a:sym typeface="Canva Sans"/>
              </a:rPr>
              <a:t>, </a:t>
            </a:r>
          </a:p>
          <a:p>
            <a:pPr algn="l">
              <a:lnSpc>
                <a:spcPts val="2520"/>
              </a:lnSpc>
            </a:pPr>
            <a:r>
              <a:rPr lang="en-US" sz="2400">
                <a:solidFill>
                  <a:srgbClr val="000000"/>
                </a:solidFill>
                <a:latin typeface="Canva Sans"/>
                <a:ea typeface="Canva Sans"/>
                <a:cs typeface="Canva Sans"/>
                <a:sym typeface="Canva Sans"/>
              </a:rPr>
              <a:t>яка завдяки (скоріш за все) вищій ціні випередила The Classic Deluxe Pizza та The Barbecue Chicken Pizza, хоча вони продалися у більшій кількості (2453ш. та 2432ш. відповідно). </a:t>
            </a:r>
          </a:p>
        </p:txBody>
      </p:sp>
      <p:sp>
        <p:nvSpPr>
          <p:cNvPr name="TextBox 10" id="10"/>
          <p:cNvSpPr txBox="true"/>
          <p:nvPr/>
        </p:nvSpPr>
        <p:spPr>
          <a:xfrm rot="0">
            <a:off x="0" y="3681412"/>
            <a:ext cx="9144000" cy="1383030"/>
          </a:xfrm>
          <a:prstGeom prst="rect">
            <a:avLst/>
          </a:prstGeom>
        </p:spPr>
        <p:txBody>
          <a:bodyPr anchor="t" rtlCol="false" tIns="0" lIns="0" bIns="0" rIns="0">
            <a:spAutoFit/>
          </a:bodyPr>
          <a:lstStyle/>
          <a:p>
            <a:pPr algn="l">
              <a:lnSpc>
                <a:spcPts val="2940"/>
              </a:lnSpc>
            </a:pPr>
            <a:r>
              <a:rPr lang="en-US" sz="2800" b="true">
                <a:solidFill>
                  <a:srgbClr val="5C3421"/>
                </a:solidFill>
                <a:latin typeface="Canva Sans Bold"/>
                <a:ea typeface="Canva Sans Bold"/>
                <a:cs typeface="Canva Sans Bold"/>
                <a:sym typeface="Canva Sans Bold"/>
              </a:rPr>
              <a:t>Абсолютним айтсайдером є The Brie Carre Pizza (490ш. і 11 588.5 доходу),</a:t>
            </a:r>
            <a:r>
              <a:rPr lang="en-US" sz="2800" b="true">
                <a:solidFill>
                  <a:srgbClr val="000000"/>
                </a:solidFill>
                <a:latin typeface="Canva Sans Bold"/>
                <a:ea typeface="Canva Sans Bold"/>
                <a:cs typeface="Canva Sans Bold"/>
                <a:sym typeface="Canva Sans Bold"/>
              </a:rPr>
              <a:t> </a:t>
            </a:r>
          </a:p>
          <a:p>
            <a:pPr algn="l">
              <a:lnSpc>
                <a:spcPts val="2520"/>
              </a:lnSpc>
            </a:pPr>
            <a:r>
              <a:rPr lang="en-US" sz="2400">
                <a:solidFill>
                  <a:srgbClr val="000000"/>
                </a:solidFill>
                <a:latin typeface="Canva Sans"/>
                <a:ea typeface="Canva Sans"/>
                <a:cs typeface="Canva Sans"/>
                <a:sym typeface="Canva Sans"/>
              </a:rPr>
              <a:t>яка продається вдвічі гірше за навіть за інших аутсайдерів, вона має критично низький попит.</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EDCF"/>
        </a:solidFill>
      </p:bgPr>
    </p:bg>
    <p:spTree>
      <p:nvGrpSpPr>
        <p:cNvPr id="1" name=""/>
        <p:cNvGrpSpPr/>
        <p:nvPr/>
      </p:nvGrpSpPr>
      <p:grpSpPr>
        <a:xfrm>
          <a:off x="0" y="0"/>
          <a:ext cx="0" cy="0"/>
          <a:chOff x="0" y="0"/>
          <a:chExt cx="0" cy="0"/>
        </a:xfrm>
      </p:grpSpPr>
      <p:grpSp>
        <p:nvGrpSpPr>
          <p:cNvPr name="Group 2" id="2"/>
          <p:cNvGrpSpPr/>
          <p:nvPr/>
        </p:nvGrpSpPr>
        <p:grpSpPr>
          <a:xfrm rot="0">
            <a:off x="1028700" y="-585973"/>
            <a:ext cx="5116987" cy="8537548"/>
            <a:chOff x="0" y="0"/>
            <a:chExt cx="782342" cy="1305316"/>
          </a:xfrm>
        </p:grpSpPr>
        <p:sp>
          <p:nvSpPr>
            <p:cNvPr name="Freeform 3" id="3"/>
            <p:cNvSpPr/>
            <p:nvPr/>
          </p:nvSpPr>
          <p:spPr>
            <a:xfrm flipH="false" flipV="false" rot="0">
              <a:off x="0" y="0"/>
              <a:ext cx="782342" cy="1305316"/>
            </a:xfrm>
            <a:custGeom>
              <a:avLst/>
              <a:gdLst/>
              <a:ahLst/>
              <a:cxnLst/>
              <a:rect r="r" b="b" t="t" l="l"/>
              <a:pathLst>
                <a:path h="1305316" w="782342">
                  <a:moveTo>
                    <a:pt x="260922" y="1286247"/>
                  </a:moveTo>
                  <a:cubicBezTo>
                    <a:pt x="301030" y="1297760"/>
                    <a:pt x="346629" y="1305316"/>
                    <a:pt x="391382" y="1305316"/>
                  </a:cubicBezTo>
                  <a:cubicBezTo>
                    <a:pt x="436136" y="1305316"/>
                    <a:pt x="479201" y="1298839"/>
                    <a:pt x="518887" y="1287325"/>
                  </a:cubicBezTo>
                  <a:cubicBezTo>
                    <a:pt x="519732" y="1286965"/>
                    <a:pt x="520576" y="1286965"/>
                    <a:pt x="521420" y="1286606"/>
                  </a:cubicBezTo>
                  <a:cubicBezTo>
                    <a:pt x="670458" y="1240551"/>
                    <a:pt x="780231" y="1118937"/>
                    <a:pt x="782342" y="965874"/>
                  </a:cubicBezTo>
                  <a:lnTo>
                    <a:pt x="782342" y="0"/>
                  </a:lnTo>
                  <a:lnTo>
                    <a:pt x="0" y="0"/>
                  </a:lnTo>
                  <a:lnTo>
                    <a:pt x="0" y="965157"/>
                  </a:lnTo>
                  <a:cubicBezTo>
                    <a:pt x="2111" y="1119656"/>
                    <a:pt x="110195" y="1241271"/>
                    <a:pt x="260922" y="1286247"/>
                  </a:cubicBezTo>
                  <a:close/>
                </a:path>
              </a:pathLst>
            </a:custGeom>
            <a:solidFill>
              <a:srgbClr val="FA5733"/>
            </a:solidFill>
            <a:ln w="57150" cap="sq">
              <a:solidFill>
                <a:srgbClr val="000000"/>
              </a:solidFill>
              <a:prstDash val="solid"/>
              <a:miter/>
            </a:ln>
          </p:spPr>
        </p:sp>
        <p:sp>
          <p:nvSpPr>
            <p:cNvPr name="TextBox 4" id="4"/>
            <p:cNvSpPr txBox="true"/>
            <p:nvPr/>
          </p:nvSpPr>
          <p:spPr>
            <a:xfrm>
              <a:off x="0" y="-38100"/>
              <a:ext cx="782342" cy="121641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10800000">
            <a:off x="6926890" y="2675339"/>
            <a:ext cx="4937939" cy="8537548"/>
            <a:chOff x="0" y="0"/>
            <a:chExt cx="754967" cy="1305316"/>
          </a:xfrm>
        </p:grpSpPr>
        <p:sp>
          <p:nvSpPr>
            <p:cNvPr name="Freeform 6" id="6"/>
            <p:cNvSpPr/>
            <p:nvPr/>
          </p:nvSpPr>
          <p:spPr>
            <a:xfrm flipH="false" flipV="false" rot="0">
              <a:off x="0" y="0"/>
              <a:ext cx="754967" cy="1305316"/>
            </a:xfrm>
            <a:custGeom>
              <a:avLst/>
              <a:gdLst/>
              <a:ahLst/>
              <a:cxnLst/>
              <a:rect r="r" b="b" t="t" l="l"/>
              <a:pathLst>
                <a:path h="1305316" w="754967">
                  <a:moveTo>
                    <a:pt x="251792" y="1286247"/>
                  </a:moveTo>
                  <a:cubicBezTo>
                    <a:pt x="290497" y="1297760"/>
                    <a:pt x="334500" y="1305316"/>
                    <a:pt x="377687" y="1305316"/>
                  </a:cubicBezTo>
                  <a:cubicBezTo>
                    <a:pt x="420875" y="1305316"/>
                    <a:pt x="462433" y="1298839"/>
                    <a:pt x="500731" y="1287325"/>
                  </a:cubicBezTo>
                  <a:cubicBezTo>
                    <a:pt x="501547" y="1286965"/>
                    <a:pt x="502361" y="1286965"/>
                    <a:pt x="503176" y="1286606"/>
                  </a:cubicBezTo>
                  <a:cubicBezTo>
                    <a:pt x="646998" y="1240551"/>
                    <a:pt x="752930" y="1118937"/>
                    <a:pt x="754967" y="965874"/>
                  </a:cubicBezTo>
                  <a:lnTo>
                    <a:pt x="754967" y="0"/>
                  </a:lnTo>
                  <a:lnTo>
                    <a:pt x="0" y="0"/>
                  </a:lnTo>
                  <a:lnTo>
                    <a:pt x="0" y="965157"/>
                  </a:lnTo>
                  <a:cubicBezTo>
                    <a:pt x="2037" y="1119656"/>
                    <a:pt x="106339" y="1241271"/>
                    <a:pt x="251792" y="1286247"/>
                  </a:cubicBezTo>
                  <a:close/>
                </a:path>
              </a:pathLst>
            </a:custGeom>
            <a:solidFill>
              <a:srgbClr val="FA5733"/>
            </a:solidFill>
            <a:ln w="57150" cap="sq">
              <a:solidFill>
                <a:srgbClr val="000000"/>
              </a:solidFill>
              <a:prstDash val="solid"/>
              <a:miter/>
            </a:ln>
          </p:spPr>
        </p:sp>
        <p:sp>
          <p:nvSpPr>
            <p:cNvPr name="TextBox 7" id="7"/>
            <p:cNvSpPr txBox="true"/>
            <p:nvPr/>
          </p:nvSpPr>
          <p:spPr>
            <a:xfrm>
              <a:off x="0" y="-38100"/>
              <a:ext cx="754967" cy="1216416"/>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330241" y="2886548"/>
            <a:ext cx="4513904" cy="451390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25046" t="0" r="-25046" b="0"/>
              </a:stretch>
            </a:blipFill>
          </p:spPr>
        </p:sp>
      </p:grpSp>
      <p:grpSp>
        <p:nvGrpSpPr>
          <p:cNvPr name="Group 10" id="10"/>
          <p:cNvGrpSpPr/>
          <p:nvPr/>
        </p:nvGrpSpPr>
        <p:grpSpPr>
          <a:xfrm rot="0">
            <a:off x="7265054" y="3138842"/>
            <a:ext cx="4261610" cy="426161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25000" t="0" r="-25000" b="0"/>
              </a:stretch>
            </a:blipFill>
          </p:spPr>
        </p:sp>
      </p:grpSp>
      <p:grpSp>
        <p:nvGrpSpPr>
          <p:cNvPr name="Group 12" id="12"/>
          <p:cNvGrpSpPr/>
          <p:nvPr/>
        </p:nvGrpSpPr>
        <p:grpSpPr>
          <a:xfrm rot="0">
            <a:off x="7960897" y="8342962"/>
            <a:ext cx="2869924" cy="2869924"/>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24931" r="0" b="-24931"/>
              </a:stretch>
            </a:blipFill>
          </p:spPr>
        </p:sp>
      </p:grpSp>
      <p:grpSp>
        <p:nvGrpSpPr>
          <p:cNvPr name="Group 14" id="14"/>
          <p:cNvGrpSpPr/>
          <p:nvPr/>
        </p:nvGrpSpPr>
        <p:grpSpPr>
          <a:xfrm rot="0">
            <a:off x="2152231" y="-585973"/>
            <a:ext cx="2869924" cy="286992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0" t="-16585" r="0" b="-16585"/>
              </a:stretch>
            </a:blipFill>
          </p:spPr>
        </p:sp>
      </p:grpSp>
      <p:sp>
        <p:nvSpPr>
          <p:cNvPr name="TextBox 16" id="16"/>
          <p:cNvSpPr txBox="true"/>
          <p:nvPr/>
        </p:nvSpPr>
        <p:spPr>
          <a:xfrm rot="0">
            <a:off x="6145687" y="85725"/>
            <a:ext cx="7529407" cy="2819400"/>
          </a:xfrm>
          <a:prstGeom prst="rect">
            <a:avLst/>
          </a:prstGeom>
        </p:spPr>
        <p:txBody>
          <a:bodyPr anchor="t" rtlCol="false" tIns="0" lIns="0" bIns="0" rIns="0">
            <a:spAutoFit/>
          </a:bodyPr>
          <a:lstStyle/>
          <a:p>
            <a:pPr algn="l">
              <a:lnSpc>
                <a:spcPts val="7349"/>
              </a:lnSpc>
            </a:pPr>
            <a:r>
              <a:rPr lang="en-US" sz="6999">
                <a:solidFill>
                  <a:srgbClr val="351D17"/>
                </a:solidFill>
                <a:latin typeface="Gulfs Display"/>
                <a:ea typeface="Gulfs Display"/>
                <a:cs typeface="Gulfs Display"/>
                <a:sym typeface="Gulfs Display"/>
              </a:rPr>
              <a:t>КАТЕГОРІЇ ТА РОЗМІРИ</a:t>
            </a:r>
          </a:p>
          <a:p>
            <a:pPr algn="l">
              <a:lnSpc>
                <a:spcPts val="7349"/>
              </a:lnSpc>
            </a:pPr>
          </a:p>
        </p:txBody>
      </p:sp>
      <p:sp>
        <p:nvSpPr>
          <p:cNvPr name="TextBox 17" id="17"/>
          <p:cNvSpPr txBox="true"/>
          <p:nvPr/>
        </p:nvSpPr>
        <p:spPr>
          <a:xfrm rot="0">
            <a:off x="11024105" y="1395412"/>
            <a:ext cx="7283343" cy="1187907"/>
          </a:xfrm>
          <a:prstGeom prst="rect">
            <a:avLst/>
          </a:prstGeom>
        </p:spPr>
        <p:txBody>
          <a:bodyPr anchor="t" rtlCol="false" tIns="0" lIns="0" bIns="0" rIns="0">
            <a:spAutoFit/>
          </a:bodyPr>
          <a:lstStyle/>
          <a:p>
            <a:pPr algn="l" marL="751764" indent="-375882" lvl="1">
              <a:lnSpc>
                <a:spcPts val="4874"/>
              </a:lnSpc>
              <a:buFont typeface="Arial"/>
              <a:buChar char="•"/>
            </a:pPr>
            <a:r>
              <a:rPr lang="en-US" sz="3482">
                <a:solidFill>
                  <a:srgbClr val="351D17"/>
                </a:solidFill>
                <a:latin typeface="Canva Sans"/>
                <a:ea typeface="Canva Sans"/>
                <a:cs typeface="Canva Sans"/>
                <a:sym typeface="Canva Sans"/>
              </a:rPr>
              <a:t>Ядром</a:t>
            </a:r>
            <a:r>
              <a:rPr lang="en-US" sz="3482">
                <a:solidFill>
                  <a:srgbClr val="351D17"/>
                </a:solidFill>
                <a:latin typeface="Canva Sans"/>
                <a:ea typeface="Canva Sans"/>
                <a:cs typeface="Canva Sans"/>
                <a:sym typeface="Canva Sans"/>
              </a:rPr>
              <a:t> продажів є піци:</a:t>
            </a:r>
          </a:p>
          <a:p>
            <a:pPr algn="l">
              <a:lnSpc>
                <a:spcPts val="4874"/>
              </a:lnSpc>
              <a:spcBef>
                <a:spcPct val="0"/>
              </a:spcBef>
            </a:pPr>
            <a:r>
              <a:rPr lang="en-US" sz="3482">
                <a:solidFill>
                  <a:srgbClr val="351D17"/>
                </a:solidFill>
                <a:latin typeface="Canva Sans"/>
                <a:ea typeface="Canva Sans"/>
                <a:cs typeface="Canva Sans"/>
                <a:sym typeface="Canva Sans"/>
              </a:rPr>
              <a:t> L (45.89% виторгу) та M</a:t>
            </a:r>
            <a:r>
              <a:rPr lang="en-US" sz="3482">
                <a:solidFill>
                  <a:srgbClr val="351D17"/>
                </a:solidFill>
                <a:latin typeface="Canva Sans"/>
                <a:ea typeface="Canva Sans"/>
                <a:cs typeface="Canva Sans"/>
                <a:sym typeface="Canva Sans"/>
              </a:rPr>
              <a:t> (30.49%)</a:t>
            </a:r>
          </a:p>
        </p:txBody>
      </p:sp>
      <p:sp>
        <p:nvSpPr>
          <p:cNvPr name="TextBox 18" id="18"/>
          <p:cNvSpPr txBox="true"/>
          <p:nvPr/>
        </p:nvSpPr>
        <p:spPr>
          <a:xfrm rot="0">
            <a:off x="11921280" y="3200088"/>
            <a:ext cx="5771087" cy="1369796"/>
          </a:xfrm>
          <a:prstGeom prst="rect">
            <a:avLst/>
          </a:prstGeom>
        </p:spPr>
        <p:txBody>
          <a:bodyPr anchor="t" rtlCol="false" tIns="0" lIns="0" bIns="0" rIns="0">
            <a:spAutoFit/>
          </a:bodyPr>
          <a:lstStyle/>
          <a:p>
            <a:pPr algn="l" marL="420145" indent="-210073" lvl="1">
              <a:lnSpc>
                <a:spcPts val="2724"/>
              </a:lnSpc>
              <a:spcBef>
                <a:spcPct val="0"/>
              </a:spcBef>
              <a:buFont typeface="Arial"/>
              <a:buChar char="•"/>
            </a:pPr>
            <a:r>
              <a:rPr lang="en-US" sz="1946">
                <a:solidFill>
                  <a:srgbClr val="351D17"/>
                </a:solidFill>
                <a:latin typeface="Canva Sans"/>
                <a:ea typeface="Canva Sans"/>
                <a:cs typeface="Canva Sans"/>
                <a:sym typeface="Canva Sans"/>
              </a:rPr>
              <a:t>Попит між чотирма основними</a:t>
            </a:r>
            <a:r>
              <a:rPr lang="en-US" sz="1946">
                <a:solidFill>
                  <a:srgbClr val="351D17"/>
                </a:solidFill>
                <a:latin typeface="Canva Sans"/>
                <a:ea typeface="Canva Sans"/>
                <a:cs typeface="Canva Sans"/>
                <a:sym typeface="Canva Sans"/>
              </a:rPr>
              <a:t> категоріями розподілений максимально рівномірно з незначним лідерством групи Classic</a:t>
            </a:r>
            <a:r>
              <a:rPr lang="en-US" sz="1946">
                <a:solidFill>
                  <a:srgbClr val="351D17"/>
                </a:solidFill>
                <a:latin typeface="Canva Sans"/>
                <a:ea typeface="Canva Sans"/>
                <a:cs typeface="Canva Sans"/>
                <a:sym typeface="Canva Sans"/>
              </a:rPr>
              <a:t> (26.91%).</a:t>
            </a:r>
          </a:p>
        </p:txBody>
      </p:sp>
      <p:sp>
        <p:nvSpPr>
          <p:cNvPr name="TextBox 19" id="19"/>
          <p:cNvSpPr txBox="true"/>
          <p:nvPr/>
        </p:nvSpPr>
        <p:spPr>
          <a:xfrm rot="0">
            <a:off x="11921280" y="5265792"/>
            <a:ext cx="5771087" cy="5342991"/>
          </a:xfrm>
          <a:prstGeom prst="rect">
            <a:avLst/>
          </a:prstGeom>
        </p:spPr>
        <p:txBody>
          <a:bodyPr anchor="t" rtlCol="false" tIns="0" lIns="0" bIns="0" rIns="0">
            <a:spAutoFit/>
          </a:bodyPr>
          <a:lstStyle/>
          <a:p>
            <a:pPr algn="l">
              <a:lnSpc>
                <a:spcPts val="1744"/>
              </a:lnSpc>
            </a:pPr>
            <a:r>
              <a:rPr lang="en-US" sz="1246">
                <a:solidFill>
                  <a:srgbClr val="351D17"/>
                </a:solidFill>
                <a:latin typeface="Canva Sans"/>
                <a:ea typeface="Canva Sans"/>
                <a:cs typeface="Canva Sans"/>
                <a:sym typeface="Canva Sans"/>
              </a:rPr>
              <a:t>S</a:t>
            </a:r>
            <a:r>
              <a:rPr lang="en-US" sz="1246" b="true">
                <a:solidFill>
                  <a:srgbClr val="351D17"/>
                </a:solidFill>
                <a:latin typeface="Canva Sans Bold"/>
                <a:ea typeface="Canva Sans Bold"/>
                <a:cs typeface="Canva Sans Bold"/>
                <a:sym typeface="Canva Sans Bold"/>
              </a:rPr>
              <a:t>ELECT</a:t>
            </a:r>
          </a:p>
          <a:p>
            <a:pPr algn="l">
              <a:lnSpc>
                <a:spcPts val="1744"/>
              </a:lnSpc>
            </a:pPr>
            <a:r>
              <a:rPr lang="en-US" sz="1246" b="true">
                <a:solidFill>
                  <a:srgbClr val="351D17"/>
                </a:solidFill>
                <a:latin typeface="Canva Sans Bold"/>
                <a:ea typeface="Canva Sans Bold"/>
                <a:cs typeface="Canva Sans Bold"/>
                <a:sym typeface="Canva Sans Bold"/>
              </a:rPr>
              <a:t>   p.size AS pizza_size,</a:t>
            </a:r>
          </a:p>
          <a:p>
            <a:pPr algn="l">
              <a:lnSpc>
                <a:spcPts val="1744"/>
              </a:lnSpc>
            </a:pPr>
            <a:r>
              <a:rPr lang="en-US" sz="1246" b="true">
                <a:solidFill>
                  <a:srgbClr val="351D17"/>
                </a:solidFill>
                <a:latin typeface="Canva Sans Bold"/>
                <a:ea typeface="Canva Sans Bold"/>
                <a:cs typeface="Canva Sans Bold"/>
                <a:sym typeface="Canva Sans Bold"/>
              </a:rPr>
              <a:t>   SUM(od.quantity) AS total_units_sold,</a:t>
            </a:r>
          </a:p>
          <a:p>
            <a:pPr algn="l">
              <a:lnSpc>
                <a:spcPts val="1744"/>
              </a:lnSpc>
            </a:pPr>
            <a:r>
              <a:rPr lang="en-US" sz="1246" b="true">
                <a:solidFill>
                  <a:srgbClr val="351D17"/>
                </a:solidFill>
                <a:latin typeface="Canva Sans Bold"/>
                <a:ea typeface="Canva Sans Bold"/>
                <a:cs typeface="Canva Sans Bold"/>
                <a:sym typeface="Canva Sans Bold"/>
              </a:rPr>
              <a:t>   ROUND(SUM(p.price * od.quantity), 2) AS size_revenue,</a:t>
            </a:r>
          </a:p>
          <a:p>
            <a:pPr algn="l">
              <a:lnSpc>
                <a:spcPts val="1744"/>
              </a:lnSpc>
            </a:pPr>
            <a:r>
              <a:rPr lang="en-US" sz="1246" b="true">
                <a:solidFill>
                  <a:srgbClr val="351D17"/>
                </a:solidFill>
                <a:latin typeface="Canva Sans Bold"/>
                <a:ea typeface="Canva Sans Bold"/>
                <a:cs typeface="Canva Sans Bold"/>
                <a:sym typeface="Canva Sans Bold"/>
              </a:rPr>
              <a:t>   ROUND(SUM(p.price * od.quantity) * 100.0 / SUM(SUM(p.price * od.quantity)) OVER (), 2) AS revenue_share_pct</a:t>
            </a:r>
          </a:p>
          <a:p>
            <a:pPr algn="l">
              <a:lnSpc>
                <a:spcPts val="1744"/>
              </a:lnSpc>
            </a:pPr>
            <a:r>
              <a:rPr lang="en-US" sz="1246" b="true">
                <a:solidFill>
                  <a:srgbClr val="351D17"/>
                </a:solidFill>
                <a:latin typeface="Canva Sans Bold"/>
                <a:ea typeface="Canva Sans Bold"/>
                <a:cs typeface="Canva Sans Bold"/>
                <a:sym typeface="Canva Sans Bold"/>
              </a:rPr>
              <a:t>FROM order_details od</a:t>
            </a:r>
          </a:p>
          <a:p>
            <a:pPr algn="l">
              <a:lnSpc>
                <a:spcPts val="1744"/>
              </a:lnSpc>
            </a:pPr>
            <a:r>
              <a:rPr lang="en-US" sz="1246" b="true">
                <a:solidFill>
                  <a:srgbClr val="351D17"/>
                </a:solidFill>
                <a:latin typeface="Canva Sans Bold"/>
                <a:ea typeface="Canva Sans Bold"/>
                <a:cs typeface="Canva Sans Bold"/>
                <a:sym typeface="Canva Sans Bold"/>
              </a:rPr>
              <a:t>JOIN pizzas p ON od.pizza_id = p.pizza_id</a:t>
            </a:r>
          </a:p>
          <a:p>
            <a:pPr algn="l">
              <a:lnSpc>
                <a:spcPts val="1744"/>
              </a:lnSpc>
            </a:pPr>
            <a:r>
              <a:rPr lang="en-US" sz="1246" b="true">
                <a:solidFill>
                  <a:srgbClr val="351D17"/>
                </a:solidFill>
                <a:latin typeface="Canva Sans Bold"/>
                <a:ea typeface="Canva Sans Bold"/>
                <a:cs typeface="Canva Sans Bold"/>
                <a:sym typeface="Canva Sans Bold"/>
              </a:rPr>
              <a:t>GROUP BY p.size</a:t>
            </a:r>
          </a:p>
          <a:p>
            <a:pPr algn="l">
              <a:lnSpc>
                <a:spcPts val="1744"/>
              </a:lnSpc>
            </a:pPr>
            <a:r>
              <a:rPr lang="en-US" sz="1246" b="true">
                <a:solidFill>
                  <a:srgbClr val="351D17"/>
                </a:solidFill>
                <a:latin typeface="Canva Sans Bold"/>
                <a:ea typeface="Canva Sans Bold"/>
                <a:cs typeface="Canva Sans Bold"/>
                <a:sym typeface="Canva Sans Bold"/>
              </a:rPr>
              <a:t>ORDER BY size_revenue DESC;</a:t>
            </a:r>
          </a:p>
          <a:p>
            <a:pPr algn="l">
              <a:lnSpc>
                <a:spcPts val="1744"/>
              </a:lnSpc>
            </a:pPr>
            <a:r>
              <a:rPr lang="en-US" sz="1246" b="true">
                <a:solidFill>
                  <a:srgbClr val="351D17"/>
                </a:solidFill>
                <a:latin typeface="Canva Sans Bold"/>
                <a:ea typeface="Canva Sans Bold"/>
                <a:cs typeface="Canva Sans Bold"/>
                <a:sym typeface="Canva Sans Bold"/>
              </a:rPr>
              <a:t>-- по категоріях</a:t>
            </a:r>
          </a:p>
          <a:p>
            <a:pPr algn="l">
              <a:lnSpc>
                <a:spcPts val="1744"/>
              </a:lnSpc>
            </a:pPr>
            <a:r>
              <a:rPr lang="en-US" sz="1246" b="true">
                <a:solidFill>
                  <a:srgbClr val="351D17"/>
                </a:solidFill>
                <a:latin typeface="Canva Sans Bold"/>
                <a:ea typeface="Canva Sans Bold"/>
                <a:cs typeface="Canva Sans Bold"/>
                <a:sym typeface="Canva Sans Bold"/>
              </a:rPr>
              <a:t>SELECT</a:t>
            </a:r>
          </a:p>
          <a:p>
            <a:pPr algn="l">
              <a:lnSpc>
                <a:spcPts val="1744"/>
              </a:lnSpc>
            </a:pPr>
            <a:r>
              <a:rPr lang="en-US" sz="1246" b="true">
                <a:solidFill>
                  <a:srgbClr val="351D17"/>
                </a:solidFill>
                <a:latin typeface="Canva Sans Bold"/>
                <a:ea typeface="Canva Sans Bold"/>
                <a:cs typeface="Canva Sans Bold"/>
                <a:sym typeface="Canva Sans Bold"/>
              </a:rPr>
              <a:t>   pt.category,</a:t>
            </a:r>
          </a:p>
          <a:p>
            <a:pPr algn="l">
              <a:lnSpc>
                <a:spcPts val="1744"/>
              </a:lnSpc>
            </a:pPr>
            <a:r>
              <a:rPr lang="en-US" sz="1246" b="true">
                <a:solidFill>
                  <a:srgbClr val="351D17"/>
                </a:solidFill>
                <a:latin typeface="Canva Sans Bold"/>
                <a:ea typeface="Canva Sans Bold"/>
                <a:cs typeface="Canva Sans Bold"/>
                <a:sym typeface="Canva Sans Bold"/>
              </a:rPr>
              <a:t>   SUM(od.quantity) AS total_units_sold,</a:t>
            </a:r>
          </a:p>
          <a:p>
            <a:pPr algn="l">
              <a:lnSpc>
                <a:spcPts val="1744"/>
              </a:lnSpc>
            </a:pPr>
            <a:r>
              <a:rPr lang="en-US" sz="1246" b="true">
                <a:solidFill>
                  <a:srgbClr val="351D17"/>
                </a:solidFill>
                <a:latin typeface="Canva Sans Bold"/>
                <a:ea typeface="Canva Sans Bold"/>
                <a:cs typeface="Canva Sans Bold"/>
                <a:sym typeface="Canva Sans Bold"/>
              </a:rPr>
              <a:t>   ROUND(SUM(p.price * od.quantity), 2) AS category_revenue,</a:t>
            </a:r>
          </a:p>
          <a:p>
            <a:pPr algn="l">
              <a:lnSpc>
                <a:spcPts val="1744"/>
              </a:lnSpc>
            </a:pPr>
            <a:r>
              <a:rPr lang="en-US" sz="1246" b="true">
                <a:solidFill>
                  <a:srgbClr val="351D17"/>
                </a:solidFill>
                <a:latin typeface="Canva Sans Bold"/>
                <a:ea typeface="Canva Sans Bold"/>
                <a:cs typeface="Canva Sans Bold"/>
                <a:sym typeface="Canva Sans Bold"/>
              </a:rPr>
              <a:t>   ROUND(SUM(p.price * od.quantity) * 100.0 / SUM(SUM(p.price * od.quantity)) OVER (), 2) AS revenue_share_pct</a:t>
            </a:r>
          </a:p>
          <a:p>
            <a:pPr algn="l">
              <a:lnSpc>
                <a:spcPts val="1744"/>
              </a:lnSpc>
            </a:pPr>
            <a:r>
              <a:rPr lang="en-US" sz="1246" b="true">
                <a:solidFill>
                  <a:srgbClr val="351D17"/>
                </a:solidFill>
                <a:latin typeface="Canva Sans Bold"/>
                <a:ea typeface="Canva Sans Bold"/>
                <a:cs typeface="Canva Sans Bold"/>
                <a:sym typeface="Canva Sans Bold"/>
              </a:rPr>
              <a:t>FROM order_details od</a:t>
            </a:r>
          </a:p>
          <a:p>
            <a:pPr algn="l">
              <a:lnSpc>
                <a:spcPts val="1744"/>
              </a:lnSpc>
            </a:pPr>
            <a:r>
              <a:rPr lang="en-US" sz="1246" b="true">
                <a:solidFill>
                  <a:srgbClr val="351D17"/>
                </a:solidFill>
                <a:latin typeface="Canva Sans Bold"/>
                <a:ea typeface="Canva Sans Bold"/>
                <a:cs typeface="Canva Sans Bold"/>
                <a:sym typeface="Canva Sans Bold"/>
              </a:rPr>
              <a:t>JOIN pizzas p ON od.pizza_id = p.pizza_id</a:t>
            </a:r>
          </a:p>
          <a:p>
            <a:pPr algn="l">
              <a:lnSpc>
                <a:spcPts val="1744"/>
              </a:lnSpc>
            </a:pPr>
            <a:r>
              <a:rPr lang="en-US" sz="1246" b="true">
                <a:solidFill>
                  <a:srgbClr val="351D17"/>
                </a:solidFill>
                <a:latin typeface="Canva Sans Bold"/>
                <a:ea typeface="Canva Sans Bold"/>
                <a:cs typeface="Canva Sans Bold"/>
                <a:sym typeface="Canva Sans Bold"/>
              </a:rPr>
              <a:t>JOIN pizza_types pt ON p.pizza_type_id = pt.pizza_type_id</a:t>
            </a:r>
          </a:p>
          <a:p>
            <a:pPr algn="l">
              <a:lnSpc>
                <a:spcPts val="1744"/>
              </a:lnSpc>
            </a:pPr>
            <a:r>
              <a:rPr lang="en-US" sz="1246" b="true">
                <a:solidFill>
                  <a:srgbClr val="351D17"/>
                </a:solidFill>
                <a:latin typeface="Canva Sans Bold"/>
                <a:ea typeface="Canva Sans Bold"/>
                <a:cs typeface="Canva Sans Bold"/>
                <a:sym typeface="Canva Sans Bold"/>
              </a:rPr>
              <a:t>GROUP BY pt.category</a:t>
            </a:r>
          </a:p>
          <a:p>
            <a:pPr algn="l">
              <a:lnSpc>
                <a:spcPts val="1744"/>
              </a:lnSpc>
            </a:pPr>
            <a:r>
              <a:rPr lang="en-US" sz="1246" b="true">
                <a:solidFill>
                  <a:srgbClr val="351D17"/>
                </a:solidFill>
                <a:latin typeface="Canva Sans Bold"/>
                <a:ea typeface="Canva Sans Bold"/>
                <a:cs typeface="Canva Sans Bold"/>
                <a:sym typeface="Canva Sans Bold"/>
              </a:rPr>
              <a:t>ORDER BY category_revenue DESC;</a:t>
            </a:r>
          </a:p>
          <a:p>
            <a:pPr algn="l">
              <a:lnSpc>
                <a:spcPts val="2724"/>
              </a:lnSpc>
              <a:spcBef>
                <a:spcPct val="0"/>
              </a:spcBef>
            </a:pPr>
          </a:p>
          <a:p>
            <a:pPr algn="l" marL="225840" indent="-112920" lvl="1">
              <a:lnSpc>
                <a:spcPts val="1464"/>
              </a:lnSpc>
              <a:spcBef>
                <a:spcPct val="0"/>
              </a:spcBef>
              <a:buAutoNum type="arabicPeriod" startAt="1"/>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EDCF"/>
        </a:solidFill>
      </p:bgPr>
    </p:bg>
    <p:spTree>
      <p:nvGrpSpPr>
        <p:cNvPr id="1" name=""/>
        <p:cNvGrpSpPr/>
        <p:nvPr/>
      </p:nvGrpSpPr>
      <p:grpSpPr>
        <a:xfrm>
          <a:off x="0" y="0"/>
          <a:ext cx="0" cy="0"/>
          <a:chOff x="0" y="0"/>
          <a:chExt cx="0" cy="0"/>
        </a:xfrm>
      </p:grpSpPr>
      <p:sp>
        <p:nvSpPr>
          <p:cNvPr name="TextBox 2" id="2"/>
          <p:cNvSpPr txBox="true"/>
          <p:nvPr/>
        </p:nvSpPr>
        <p:spPr>
          <a:xfrm rot="0">
            <a:off x="2314940" y="66675"/>
            <a:ext cx="11919204" cy="1322071"/>
          </a:xfrm>
          <a:prstGeom prst="rect">
            <a:avLst/>
          </a:prstGeom>
        </p:spPr>
        <p:txBody>
          <a:bodyPr anchor="t" rtlCol="false" tIns="0" lIns="0" bIns="0" rIns="0">
            <a:spAutoFit/>
          </a:bodyPr>
          <a:lstStyle/>
          <a:p>
            <a:pPr algn="ctr">
              <a:lnSpc>
                <a:spcPts val="5145"/>
              </a:lnSpc>
            </a:pPr>
            <a:r>
              <a:rPr lang="en-US" sz="4900">
                <a:solidFill>
                  <a:srgbClr val="5C3421"/>
                </a:solidFill>
                <a:latin typeface="Gulfs Display"/>
                <a:ea typeface="Gulfs Display"/>
                <a:cs typeface="Gulfs Display"/>
                <a:sym typeface="Gulfs Display"/>
              </a:rPr>
              <a:t>КАНДИДАТИ НА ВИЛУЧЕННЯ З МЕНЮ</a:t>
            </a:r>
          </a:p>
          <a:p>
            <a:pPr algn="ctr">
              <a:lnSpc>
                <a:spcPts val="5145"/>
              </a:lnSpc>
            </a:pPr>
          </a:p>
        </p:txBody>
      </p:sp>
      <p:sp>
        <p:nvSpPr>
          <p:cNvPr name="TextBox 3" id="3"/>
          <p:cNvSpPr txBox="true"/>
          <p:nvPr/>
        </p:nvSpPr>
        <p:spPr>
          <a:xfrm rot="0">
            <a:off x="1216312" y="7661813"/>
            <a:ext cx="5230942" cy="409575"/>
          </a:xfrm>
          <a:prstGeom prst="rect">
            <a:avLst/>
          </a:prstGeom>
        </p:spPr>
        <p:txBody>
          <a:bodyPr anchor="t" rtlCol="false" tIns="0" lIns="0" bIns="0" rIns="0">
            <a:spAutoFit/>
          </a:bodyPr>
          <a:lstStyle/>
          <a:p>
            <a:pPr algn="ctr">
              <a:lnSpc>
                <a:spcPts val="3150"/>
              </a:lnSpc>
            </a:pPr>
            <a:r>
              <a:rPr lang="en-US" sz="3000">
                <a:solidFill>
                  <a:srgbClr val="FFEDCF"/>
                </a:solidFill>
                <a:latin typeface="Canva Sans"/>
                <a:ea typeface="Canva Sans"/>
                <a:cs typeface="Canva Sans"/>
                <a:sym typeface="Canva Sans"/>
              </a:rPr>
              <a:t>MARGARITA PEREZ</a:t>
            </a:r>
          </a:p>
        </p:txBody>
      </p:sp>
      <p:sp>
        <p:nvSpPr>
          <p:cNvPr name="TextBox 4" id="4"/>
          <p:cNvSpPr txBox="true"/>
          <p:nvPr/>
        </p:nvSpPr>
        <p:spPr>
          <a:xfrm rot="0">
            <a:off x="4354940" y="979171"/>
            <a:ext cx="6913599" cy="409575"/>
          </a:xfrm>
          <a:prstGeom prst="rect">
            <a:avLst/>
          </a:prstGeom>
        </p:spPr>
        <p:txBody>
          <a:bodyPr anchor="t" rtlCol="false" tIns="0" lIns="0" bIns="0" rIns="0">
            <a:spAutoFit/>
          </a:bodyPr>
          <a:lstStyle/>
          <a:p>
            <a:pPr algn="l" marL="647700" indent="-323850" lvl="1">
              <a:lnSpc>
                <a:spcPts val="3150"/>
              </a:lnSpc>
              <a:buFont typeface="Arial"/>
              <a:buChar char="•"/>
            </a:pPr>
            <a:r>
              <a:rPr lang="en-US" sz="3000">
                <a:solidFill>
                  <a:srgbClr val="C23415"/>
                </a:solidFill>
                <a:latin typeface="Canva Sans"/>
                <a:ea typeface="Canva Sans"/>
                <a:cs typeface="Canva Sans"/>
                <a:sym typeface="Canva Sans"/>
              </a:rPr>
              <a:t>THE BRIE CARRE PIZZA(490 ШТ.)</a:t>
            </a:r>
          </a:p>
        </p:txBody>
      </p:sp>
      <p:sp>
        <p:nvSpPr>
          <p:cNvPr name="TextBox 5" id="5"/>
          <p:cNvSpPr txBox="true"/>
          <p:nvPr/>
        </p:nvSpPr>
        <p:spPr>
          <a:xfrm rot="0">
            <a:off x="0" y="2329542"/>
            <a:ext cx="10201285" cy="2765805"/>
          </a:xfrm>
          <a:prstGeom prst="rect">
            <a:avLst/>
          </a:prstGeom>
        </p:spPr>
        <p:txBody>
          <a:bodyPr anchor="t" rtlCol="false" tIns="0" lIns="0" bIns="0" rIns="0">
            <a:spAutoFit/>
          </a:bodyPr>
          <a:lstStyle/>
          <a:p>
            <a:pPr algn="l" marL="559023" indent="-279512" lvl="1">
              <a:lnSpc>
                <a:spcPts val="2718"/>
              </a:lnSpc>
              <a:buFont typeface="Arial"/>
              <a:buChar char="•"/>
            </a:pPr>
            <a:r>
              <a:rPr lang="en-US" sz="2589">
                <a:solidFill>
                  <a:srgbClr val="C23415"/>
                </a:solidFill>
                <a:latin typeface="Canva Sans"/>
                <a:ea typeface="Canva Sans"/>
                <a:cs typeface="Canva Sans"/>
                <a:sym typeface="Canva Sans"/>
              </a:rPr>
              <a:t>СПИРАЮЧИСЬ НА ФІЗИЧНИЙ ПОПИТ, ГОЛОВНИМИ КАНДИДАТАМИ НА ВИЛУЧЕННЯ ДІЙСНО СТАЮТЬ: THE BRIE CARRE PIZZA(490 ШТ.), THE MEDITERRANEAN PIZZA(934 ШТ.) ТА THE SPINACH SUPREME PIZZA(950 ШТ.), ОСКІЛЬКИ ВОНИ СТВОРЮЮТЬ НАЙМЕНШЕ НАВАНТАЖЕННЯ НА ЗАМОВЛЕННЯ, ТОДІ ЯК HE GREEN GARDEN PIZZA(997 ШТ.) ВАРТО ЗАЛИШИТИ ЧЕРЕЗ ВИЩУ ПОПУЛЯРНІСТЬ СЕРЕД ГОСТЕЙ, ПОПРИ ЇЇ НИЗЬКУ ВАРТІСТЬ.</a:t>
            </a:r>
          </a:p>
        </p:txBody>
      </p:sp>
      <p:grpSp>
        <p:nvGrpSpPr>
          <p:cNvPr name="Group 6" id="6"/>
          <p:cNvGrpSpPr/>
          <p:nvPr/>
        </p:nvGrpSpPr>
        <p:grpSpPr>
          <a:xfrm rot="-10800000">
            <a:off x="12142313" y="2300967"/>
            <a:ext cx="5003047" cy="8537548"/>
            <a:chOff x="0" y="0"/>
            <a:chExt cx="764922" cy="1305316"/>
          </a:xfrm>
        </p:grpSpPr>
        <p:sp>
          <p:nvSpPr>
            <p:cNvPr name="Freeform 7" id="7"/>
            <p:cNvSpPr/>
            <p:nvPr/>
          </p:nvSpPr>
          <p:spPr>
            <a:xfrm flipH="false" flipV="false" rot="0">
              <a:off x="0" y="0"/>
              <a:ext cx="764922" cy="1305316"/>
            </a:xfrm>
            <a:custGeom>
              <a:avLst/>
              <a:gdLst/>
              <a:ahLst/>
              <a:cxnLst/>
              <a:rect r="r" b="b" t="t" l="l"/>
              <a:pathLst>
                <a:path h="1305316" w="764922">
                  <a:moveTo>
                    <a:pt x="255112" y="1286247"/>
                  </a:moveTo>
                  <a:cubicBezTo>
                    <a:pt x="294327" y="1297760"/>
                    <a:pt x="338910" y="1305316"/>
                    <a:pt x="382667" y="1305316"/>
                  </a:cubicBezTo>
                  <a:cubicBezTo>
                    <a:pt x="426425" y="1305316"/>
                    <a:pt x="468531" y="1298839"/>
                    <a:pt x="507333" y="1287325"/>
                  </a:cubicBezTo>
                  <a:cubicBezTo>
                    <a:pt x="508160" y="1286965"/>
                    <a:pt x="508985" y="1286965"/>
                    <a:pt x="509810" y="1286606"/>
                  </a:cubicBezTo>
                  <a:cubicBezTo>
                    <a:pt x="655529" y="1240551"/>
                    <a:pt x="762858" y="1118937"/>
                    <a:pt x="764922" y="965874"/>
                  </a:cubicBezTo>
                  <a:lnTo>
                    <a:pt x="764922" y="0"/>
                  </a:lnTo>
                  <a:lnTo>
                    <a:pt x="0" y="0"/>
                  </a:lnTo>
                  <a:lnTo>
                    <a:pt x="0" y="965157"/>
                  </a:lnTo>
                  <a:cubicBezTo>
                    <a:pt x="2064" y="1119656"/>
                    <a:pt x="107741" y="1241271"/>
                    <a:pt x="255112" y="1286247"/>
                  </a:cubicBezTo>
                  <a:close/>
                </a:path>
              </a:pathLst>
            </a:custGeom>
            <a:solidFill>
              <a:srgbClr val="FA5733"/>
            </a:solidFill>
            <a:ln w="57150" cap="sq">
              <a:solidFill>
                <a:srgbClr val="000000"/>
              </a:solidFill>
              <a:prstDash val="solid"/>
              <a:miter/>
            </a:ln>
          </p:spPr>
        </p:sp>
        <p:sp>
          <p:nvSpPr>
            <p:cNvPr name="TextBox 8" id="8"/>
            <p:cNvSpPr txBox="true"/>
            <p:nvPr/>
          </p:nvSpPr>
          <p:spPr>
            <a:xfrm>
              <a:off x="0" y="-38100"/>
              <a:ext cx="764922" cy="1216416"/>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2264599" y="3084312"/>
            <a:ext cx="4758476" cy="475847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25046" t="0" r="-25046" b="0"/>
              </a:stretch>
            </a:blipFill>
          </p:spPr>
        </p:sp>
      </p:grpSp>
      <p:sp>
        <p:nvSpPr>
          <p:cNvPr name="TextBox 11" id="11"/>
          <p:cNvSpPr txBox="true"/>
          <p:nvPr/>
        </p:nvSpPr>
        <p:spPr>
          <a:xfrm rot="0">
            <a:off x="5351000" y="6019272"/>
            <a:ext cx="6913599" cy="4199936"/>
          </a:xfrm>
          <a:prstGeom prst="rect">
            <a:avLst/>
          </a:prstGeom>
        </p:spPr>
        <p:txBody>
          <a:bodyPr anchor="t" rtlCol="false" tIns="0" lIns="0" bIns="0" rIns="0">
            <a:spAutoFit/>
          </a:bodyPr>
          <a:lstStyle/>
          <a:p>
            <a:pPr algn="l">
              <a:lnSpc>
                <a:spcPts val="1365"/>
              </a:lnSpc>
            </a:pPr>
            <a:r>
              <a:rPr lang="en-US" sz="1300" b="true">
                <a:solidFill>
                  <a:srgbClr val="000000"/>
                </a:solidFill>
                <a:latin typeface="Canva Sans Bold"/>
                <a:ea typeface="Canva Sans Bold"/>
                <a:cs typeface="Canva Sans Bold"/>
                <a:sym typeface="Canva Sans Bold"/>
              </a:rPr>
              <a:t>WITH PIZZA_STATS AS (</a:t>
            </a:r>
          </a:p>
          <a:p>
            <a:pPr algn="l">
              <a:lnSpc>
                <a:spcPts val="1365"/>
              </a:lnSpc>
            </a:pPr>
            <a:r>
              <a:rPr lang="en-US" sz="1300" b="true">
                <a:solidFill>
                  <a:srgbClr val="000000"/>
                </a:solidFill>
                <a:latin typeface="Canva Sans Bold"/>
                <a:ea typeface="Canva Sans Bold"/>
                <a:cs typeface="Canva Sans Bold"/>
                <a:sym typeface="Canva Sans Bold"/>
              </a:rPr>
              <a:t>   SELECT</a:t>
            </a:r>
          </a:p>
          <a:p>
            <a:pPr algn="l">
              <a:lnSpc>
                <a:spcPts val="1365"/>
              </a:lnSpc>
            </a:pPr>
            <a:r>
              <a:rPr lang="en-US" sz="1300" b="true">
                <a:solidFill>
                  <a:srgbClr val="000000"/>
                </a:solidFill>
                <a:latin typeface="Canva Sans Bold"/>
                <a:ea typeface="Canva Sans Bold"/>
                <a:cs typeface="Canva Sans Bold"/>
                <a:sym typeface="Canva Sans Bold"/>
              </a:rPr>
              <a:t>       pt.name AS pizza_name,</a:t>
            </a:r>
          </a:p>
          <a:p>
            <a:pPr algn="l">
              <a:lnSpc>
                <a:spcPts val="1365"/>
              </a:lnSpc>
            </a:pPr>
            <a:r>
              <a:rPr lang="en-US" sz="1300" b="true">
                <a:solidFill>
                  <a:srgbClr val="000000"/>
                </a:solidFill>
                <a:latin typeface="Canva Sans Bold"/>
                <a:ea typeface="Canva Sans Bold"/>
                <a:cs typeface="Canva Sans Bold"/>
                <a:sym typeface="Canva Sans Bold"/>
              </a:rPr>
              <a:t>       SUM(od.quantity) AS total_units_sold,</a:t>
            </a:r>
          </a:p>
          <a:p>
            <a:pPr algn="l">
              <a:lnSpc>
                <a:spcPts val="1365"/>
              </a:lnSpc>
            </a:pPr>
            <a:r>
              <a:rPr lang="en-US" sz="1300" b="true">
                <a:solidFill>
                  <a:srgbClr val="000000"/>
                </a:solidFill>
                <a:latin typeface="Canva Sans Bold"/>
                <a:ea typeface="Canva Sans Bold"/>
                <a:cs typeface="Canva Sans Bold"/>
                <a:sym typeface="Canva Sans Bold"/>
              </a:rPr>
              <a:t>       ROUND(SUM(p.price * od.quantity), 2) AS pizza_revenue</a:t>
            </a:r>
          </a:p>
          <a:p>
            <a:pPr algn="l">
              <a:lnSpc>
                <a:spcPts val="1365"/>
              </a:lnSpc>
            </a:pPr>
            <a:r>
              <a:rPr lang="en-US" sz="1300" b="true">
                <a:solidFill>
                  <a:srgbClr val="000000"/>
                </a:solidFill>
                <a:latin typeface="Canva Sans Bold"/>
                <a:ea typeface="Canva Sans Bold"/>
                <a:cs typeface="Canva Sans Bold"/>
                <a:sym typeface="Canva Sans Bold"/>
              </a:rPr>
              <a:t>   FROM order_details od</a:t>
            </a:r>
          </a:p>
          <a:p>
            <a:pPr algn="l">
              <a:lnSpc>
                <a:spcPts val="1365"/>
              </a:lnSpc>
            </a:pPr>
            <a:r>
              <a:rPr lang="en-US" sz="1300" b="true">
                <a:solidFill>
                  <a:srgbClr val="000000"/>
                </a:solidFill>
                <a:latin typeface="Canva Sans Bold"/>
                <a:ea typeface="Canva Sans Bold"/>
                <a:cs typeface="Canva Sans Bold"/>
                <a:sym typeface="Canva Sans Bold"/>
              </a:rPr>
              <a:t>   JOIN pizzas p ON od.pizza_id = p.pizza_id</a:t>
            </a:r>
          </a:p>
          <a:p>
            <a:pPr algn="l">
              <a:lnSpc>
                <a:spcPts val="1365"/>
              </a:lnSpc>
            </a:pPr>
            <a:r>
              <a:rPr lang="en-US" sz="1300" b="true">
                <a:solidFill>
                  <a:srgbClr val="000000"/>
                </a:solidFill>
                <a:latin typeface="Canva Sans Bold"/>
                <a:ea typeface="Canva Sans Bold"/>
                <a:cs typeface="Canva Sans Bold"/>
                <a:sym typeface="Canva Sans Bold"/>
              </a:rPr>
              <a:t>   JOIN pizza_types pt ON p.pizza_type_id = pt.pizza_type_id</a:t>
            </a:r>
          </a:p>
          <a:p>
            <a:pPr algn="l">
              <a:lnSpc>
                <a:spcPts val="1365"/>
              </a:lnSpc>
            </a:pPr>
            <a:r>
              <a:rPr lang="en-US" sz="1300" b="true">
                <a:solidFill>
                  <a:srgbClr val="000000"/>
                </a:solidFill>
                <a:latin typeface="Canva Sans Bold"/>
                <a:ea typeface="Canva Sans Bold"/>
                <a:cs typeface="Canva Sans Bold"/>
                <a:sym typeface="Canva Sans Bold"/>
              </a:rPr>
              <a:t>   GROUP BY pt.name</a:t>
            </a:r>
          </a:p>
          <a:p>
            <a:pPr algn="l">
              <a:lnSpc>
                <a:spcPts val="1365"/>
              </a:lnSpc>
            </a:pPr>
            <a:r>
              <a:rPr lang="en-US" sz="1300" b="true">
                <a:solidFill>
                  <a:srgbClr val="000000"/>
                </a:solidFill>
                <a:latin typeface="Canva Sans Bold"/>
                <a:ea typeface="Canva Sans Bold"/>
                <a:cs typeface="Canva Sans Bold"/>
                <a:sym typeface="Canva Sans Bold"/>
              </a:rPr>
              <a:t>)</a:t>
            </a:r>
          </a:p>
          <a:p>
            <a:pPr algn="l">
              <a:lnSpc>
                <a:spcPts val="1365"/>
              </a:lnSpc>
            </a:pPr>
            <a:r>
              <a:rPr lang="en-US" sz="1300" b="true">
                <a:solidFill>
                  <a:srgbClr val="000000"/>
                </a:solidFill>
                <a:latin typeface="Canva Sans Bold"/>
                <a:ea typeface="Canva Sans Bold"/>
                <a:cs typeface="Canva Sans Bold"/>
                <a:sym typeface="Canva Sans Bold"/>
              </a:rPr>
              <a:t>SELECT</a:t>
            </a:r>
          </a:p>
          <a:p>
            <a:pPr algn="l">
              <a:lnSpc>
                <a:spcPts val="1365"/>
              </a:lnSpc>
            </a:pPr>
            <a:r>
              <a:rPr lang="en-US" sz="1300" b="true">
                <a:solidFill>
                  <a:srgbClr val="000000"/>
                </a:solidFill>
                <a:latin typeface="Canva Sans Bold"/>
                <a:ea typeface="Canva Sans Bold"/>
                <a:cs typeface="Canva Sans Bold"/>
                <a:sym typeface="Canva Sans Bold"/>
              </a:rPr>
              <a:t>   pizza_name,</a:t>
            </a:r>
          </a:p>
          <a:p>
            <a:pPr algn="l">
              <a:lnSpc>
                <a:spcPts val="1365"/>
              </a:lnSpc>
            </a:pPr>
            <a:r>
              <a:rPr lang="en-US" sz="1300" b="true">
                <a:solidFill>
                  <a:srgbClr val="000000"/>
                </a:solidFill>
                <a:latin typeface="Canva Sans Bold"/>
                <a:ea typeface="Canva Sans Bold"/>
                <a:cs typeface="Canva Sans Bold"/>
                <a:sym typeface="Canva Sans Bold"/>
              </a:rPr>
              <a:t>   total_units_sold,</a:t>
            </a:r>
          </a:p>
          <a:p>
            <a:pPr algn="l">
              <a:lnSpc>
                <a:spcPts val="1365"/>
              </a:lnSpc>
            </a:pPr>
            <a:r>
              <a:rPr lang="en-US" sz="1300" b="true">
                <a:solidFill>
                  <a:srgbClr val="000000"/>
                </a:solidFill>
                <a:latin typeface="Canva Sans Bold"/>
                <a:ea typeface="Canva Sans Bold"/>
                <a:cs typeface="Canva Sans Bold"/>
                <a:sym typeface="Canva Sans Bold"/>
              </a:rPr>
              <a:t>   pizza_revenue,</a:t>
            </a:r>
          </a:p>
          <a:p>
            <a:pPr algn="l">
              <a:lnSpc>
                <a:spcPts val="1365"/>
              </a:lnSpc>
            </a:pPr>
            <a:r>
              <a:rPr lang="en-US" sz="1300" b="true">
                <a:solidFill>
                  <a:srgbClr val="000000"/>
                </a:solidFill>
                <a:latin typeface="Canva Sans Bold"/>
                <a:ea typeface="Canva Sans Bold"/>
                <a:cs typeface="Canva Sans Bold"/>
                <a:sym typeface="Canva Sans Bold"/>
              </a:rPr>
              <a:t>   ROUND(pizza_revenue * 100.0 / SUM(pizza_revenue) OVER (), 2) AS revenue_share_pct,</a:t>
            </a:r>
          </a:p>
          <a:p>
            <a:pPr algn="l">
              <a:lnSpc>
                <a:spcPts val="1365"/>
              </a:lnSpc>
            </a:pPr>
            <a:r>
              <a:rPr lang="en-US" sz="1300" b="true">
                <a:solidFill>
                  <a:srgbClr val="000000"/>
                </a:solidFill>
                <a:latin typeface="Canva Sans Bold"/>
                <a:ea typeface="Canva Sans Bold"/>
                <a:cs typeface="Canva Sans Bold"/>
                <a:sym typeface="Canva Sans Bold"/>
              </a:rPr>
              <a:t>   ROUND(</a:t>
            </a:r>
          </a:p>
          <a:p>
            <a:pPr algn="l">
              <a:lnSpc>
                <a:spcPts val="1365"/>
              </a:lnSpc>
            </a:pPr>
            <a:r>
              <a:rPr lang="en-US" sz="1300" b="true">
                <a:solidFill>
                  <a:srgbClr val="000000"/>
                </a:solidFill>
                <a:latin typeface="Canva Sans Bold"/>
                <a:ea typeface="Canva Sans Bold"/>
                <a:cs typeface="Canva Sans Bold"/>
                <a:sym typeface="Canva Sans Bold"/>
              </a:rPr>
              <a:t>       SUM(pizza_revenue) OVER (ORDER BY pizza_revenue ASC, pizza_name</a:t>
            </a:r>
          </a:p>
          <a:p>
            <a:pPr algn="l">
              <a:lnSpc>
                <a:spcPts val="1365"/>
              </a:lnSpc>
            </a:pPr>
            <a:r>
              <a:rPr lang="en-US" sz="1300" b="true">
                <a:solidFill>
                  <a:srgbClr val="000000"/>
                </a:solidFill>
                <a:latin typeface="Canva Sans Bold"/>
                <a:ea typeface="Canva Sans Bold"/>
                <a:cs typeface="Canva Sans Bold"/>
                <a:sym typeface="Canva Sans Bold"/>
              </a:rPr>
              <a:t>                                ROWS BETWEEN UNBOUNDED PRECEDING AND CURRENT ROW)</a:t>
            </a:r>
          </a:p>
          <a:p>
            <a:pPr algn="l">
              <a:lnSpc>
                <a:spcPts val="1365"/>
              </a:lnSpc>
            </a:pPr>
            <a:r>
              <a:rPr lang="en-US" sz="1300" b="true">
                <a:solidFill>
                  <a:srgbClr val="000000"/>
                </a:solidFill>
                <a:latin typeface="Canva Sans Bold"/>
                <a:ea typeface="Canva Sans Bold"/>
                <a:cs typeface="Canva Sans Bold"/>
                <a:sym typeface="Canva Sans Bold"/>
              </a:rPr>
              <a:t>       * 100.0 / SUM(pizza_revenue) OVER (), 2</a:t>
            </a:r>
          </a:p>
          <a:p>
            <a:pPr algn="l">
              <a:lnSpc>
                <a:spcPts val="1365"/>
              </a:lnSpc>
            </a:pPr>
            <a:r>
              <a:rPr lang="en-US" sz="1300" b="true">
                <a:solidFill>
                  <a:srgbClr val="000000"/>
                </a:solidFill>
                <a:latin typeface="Canva Sans Bold"/>
                <a:ea typeface="Canva Sans Bold"/>
                <a:cs typeface="Canva Sans Bold"/>
                <a:sym typeface="Canva Sans Bold"/>
              </a:rPr>
              <a:t>   ) AS cumulative_share_pct</a:t>
            </a:r>
          </a:p>
          <a:p>
            <a:pPr algn="l">
              <a:lnSpc>
                <a:spcPts val="1365"/>
              </a:lnSpc>
            </a:pPr>
            <a:r>
              <a:rPr lang="en-US" sz="1300" b="true">
                <a:solidFill>
                  <a:srgbClr val="000000"/>
                </a:solidFill>
                <a:latin typeface="Canva Sans Bold"/>
                <a:ea typeface="Canva Sans Bold"/>
                <a:cs typeface="Canva Sans Bold"/>
                <a:sym typeface="Canva Sans Bold"/>
              </a:rPr>
              <a:t>FROM pizza_stats</a:t>
            </a:r>
          </a:p>
          <a:p>
            <a:pPr algn="l">
              <a:lnSpc>
                <a:spcPts val="1365"/>
              </a:lnSpc>
            </a:pPr>
            <a:r>
              <a:rPr lang="en-US" sz="1300" b="true">
                <a:solidFill>
                  <a:srgbClr val="000000"/>
                </a:solidFill>
                <a:latin typeface="Canva Sans Bold"/>
                <a:ea typeface="Canva Sans Bold"/>
                <a:cs typeface="Canva Sans Bold"/>
                <a:sym typeface="Canva Sans Bold"/>
              </a:rPr>
              <a:t>ORDER BY pizza_revenue ASC</a:t>
            </a:r>
          </a:p>
          <a:p>
            <a:pPr algn="l">
              <a:lnSpc>
                <a:spcPts val="1365"/>
              </a:lnSpc>
            </a:pPr>
            <a:r>
              <a:rPr lang="en-US" sz="1300" b="true">
                <a:solidFill>
                  <a:srgbClr val="000000"/>
                </a:solidFill>
                <a:latin typeface="Canva Sans Bold"/>
                <a:ea typeface="Canva Sans Bold"/>
                <a:cs typeface="Canva Sans Bold"/>
                <a:sym typeface="Canva Sans Bold"/>
              </a:rPr>
              <a:t>LIMIT 10;</a:t>
            </a:r>
          </a:p>
          <a:p>
            <a:pPr algn="l">
              <a:lnSpc>
                <a:spcPts val="630"/>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EDCF"/>
        </a:solidFill>
      </p:bgPr>
    </p:bg>
    <p:spTree>
      <p:nvGrpSpPr>
        <p:cNvPr id="1" name=""/>
        <p:cNvGrpSpPr/>
        <p:nvPr/>
      </p:nvGrpSpPr>
      <p:grpSpPr>
        <a:xfrm>
          <a:off x="0" y="0"/>
          <a:ext cx="0" cy="0"/>
          <a:chOff x="0" y="0"/>
          <a:chExt cx="0" cy="0"/>
        </a:xfrm>
      </p:grpSpPr>
      <p:grpSp>
        <p:nvGrpSpPr>
          <p:cNvPr name="Group 2" id="2"/>
          <p:cNvGrpSpPr/>
          <p:nvPr/>
        </p:nvGrpSpPr>
        <p:grpSpPr>
          <a:xfrm rot="-10800000">
            <a:off x="1028700" y="2610231"/>
            <a:ext cx="5003047" cy="8537548"/>
            <a:chOff x="0" y="0"/>
            <a:chExt cx="764922" cy="1305316"/>
          </a:xfrm>
        </p:grpSpPr>
        <p:sp>
          <p:nvSpPr>
            <p:cNvPr name="Freeform 3" id="3"/>
            <p:cNvSpPr/>
            <p:nvPr/>
          </p:nvSpPr>
          <p:spPr>
            <a:xfrm flipH="false" flipV="false" rot="0">
              <a:off x="0" y="0"/>
              <a:ext cx="764922" cy="1305316"/>
            </a:xfrm>
            <a:custGeom>
              <a:avLst/>
              <a:gdLst/>
              <a:ahLst/>
              <a:cxnLst/>
              <a:rect r="r" b="b" t="t" l="l"/>
              <a:pathLst>
                <a:path h="1305316" w="764922">
                  <a:moveTo>
                    <a:pt x="255112" y="1286247"/>
                  </a:moveTo>
                  <a:cubicBezTo>
                    <a:pt x="294327" y="1297760"/>
                    <a:pt x="338910" y="1305316"/>
                    <a:pt x="382667" y="1305316"/>
                  </a:cubicBezTo>
                  <a:cubicBezTo>
                    <a:pt x="426425" y="1305316"/>
                    <a:pt x="468531" y="1298839"/>
                    <a:pt x="507333" y="1287325"/>
                  </a:cubicBezTo>
                  <a:cubicBezTo>
                    <a:pt x="508160" y="1286965"/>
                    <a:pt x="508985" y="1286965"/>
                    <a:pt x="509810" y="1286606"/>
                  </a:cubicBezTo>
                  <a:cubicBezTo>
                    <a:pt x="655529" y="1240551"/>
                    <a:pt x="762858" y="1118937"/>
                    <a:pt x="764922" y="965874"/>
                  </a:cubicBezTo>
                  <a:lnTo>
                    <a:pt x="764922" y="0"/>
                  </a:lnTo>
                  <a:lnTo>
                    <a:pt x="0" y="0"/>
                  </a:lnTo>
                  <a:lnTo>
                    <a:pt x="0" y="965157"/>
                  </a:lnTo>
                  <a:cubicBezTo>
                    <a:pt x="2064" y="1119656"/>
                    <a:pt x="107741" y="1241271"/>
                    <a:pt x="255112" y="1286247"/>
                  </a:cubicBezTo>
                  <a:close/>
                </a:path>
              </a:pathLst>
            </a:custGeom>
            <a:solidFill>
              <a:srgbClr val="FA5733"/>
            </a:solidFill>
            <a:ln cap="sq">
              <a:noFill/>
              <a:prstDash val="solid"/>
              <a:miter/>
            </a:ln>
          </p:spPr>
        </p:sp>
        <p:sp>
          <p:nvSpPr>
            <p:cNvPr name="TextBox 4" id="4"/>
            <p:cNvSpPr txBox="true"/>
            <p:nvPr/>
          </p:nvSpPr>
          <p:spPr>
            <a:xfrm>
              <a:off x="0" y="-38100"/>
              <a:ext cx="764922" cy="121641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3287539" y="2610231"/>
            <a:ext cx="4306877" cy="430687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5733"/>
            </a:solidFill>
            <a:ln w="47625" cap="sq">
              <a:solidFill>
                <a:srgbClr val="00000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3574674" y="2897366"/>
            <a:ext cx="3732607" cy="373260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0" t="0" r="0" b="0"/>
              </a:stretch>
            </a:blipFill>
          </p:spPr>
        </p:sp>
      </p:grpSp>
      <p:sp>
        <p:nvSpPr>
          <p:cNvPr name="TextBox 10" id="10"/>
          <p:cNvSpPr txBox="true"/>
          <p:nvPr/>
        </p:nvSpPr>
        <p:spPr>
          <a:xfrm rot="0">
            <a:off x="0" y="77966"/>
            <a:ext cx="8115300" cy="2819400"/>
          </a:xfrm>
          <a:prstGeom prst="rect">
            <a:avLst/>
          </a:prstGeom>
        </p:spPr>
        <p:txBody>
          <a:bodyPr anchor="t" rtlCol="false" tIns="0" lIns="0" bIns="0" rIns="0">
            <a:spAutoFit/>
          </a:bodyPr>
          <a:lstStyle/>
          <a:p>
            <a:pPr algn="l">
              <a:lnSpc>
                <a:spcPts val="7349"/>
              </a:lnSpc>
            </a:pPr>
            <a:r>
              <a:rPr lang="en-US" sz="6999">
                <a:solidFill>
                  <a:srgbClr val="000000"/>
                </a:solidFill>
                <a:latin typeface="Gulfs Display"/>
                <a:ea typeface="Gulfs Display"/>
                <a:cs typeface="Gulfs Display"/>
                <a:sym typeface="Gulfs Display"/>
              </a:rPr>
              <a:t>ВЕЛИКІ ЗАМОВЛЕННЯ</a:t>
            </a:r>
          </a:p>
          <a:p>
            <a:pPr algn="l">
              <a:lnSpc>
                <a:spcPts val="7349"/>
              </a:lnSpc>
            </a:pPr>
          </a:p>
        </p:txBody>
      </p:sp>
      <p:sp>
        <p:nvSpPr>
          <p:cNvPr name="TextBox 11" id="11"/>
          <p:cNvSpPr txBox="true"/>
          <p:nvPr/>
        </p:nvSpPr>
        <p:spPr>
          <a:xfrm rot="0">
            <a:off x="7937318" y="3661686"/>
            <a:ext cx="9934313" cy="870585"/>
          </a:xfrm>
          <a:prstGeom prst="rect">
            <a:avLst/>
          </a:prstGeom>
        </p:spPr>
        <p:txBody>
          <a:bodyPr anchor="t" rtlCol="false" tIns="0" lIns="0" bIns="0" rIns="0">
            <a:spAutoFit/>
          </a:bodyPr>
          <a:lstStyle/>
          <a:p>
            <a:pPr algn="l" marL="474984" indent="-237492" lvl="1">
              <a:lnSpc>
                <a:spcPts val="2310"/>
              </a:lnSpc>
              <a:buFont typeface="Arial"/>
              <a:buChar char="•"/>
            </a:pPr>
            <a:r>
              <a:rPr lang="en-US" sz="2200">
                <a:solidFill>
                  <a:srgbClr val="000000"/>
                </a:solidFill>
                <a:latin typeface="Canva Sans"/>
                <a:ea typeface="Canva Sans"/>
                <a:cs typeface="Canva Sans"/>
                <a:sym typeface="Canva Sans"/>
              </a:rPr>
              <a:t>Дані показують, що великі піци (4+ піци) складають 18.17% від загальної кількості чеків і приносять 39.44% усієї виручки компанії, що підтверджує доцільність створення окремої комерційної групи.</a:t>
            </a:r>
          </a:p>
        </p:txBody>
      </p:sp>
      <p:sp>
        <p:nvSpPr>
          <p:cNvPr name="TextBox 12" id="12"/>
          <p:cNvSpPr txBox="true"/>
          <p:nvPr/>
        </p:nvSpPr>
        <p:spPr>
          <a:xfrm rot="0">
            <a:off x="7594415" y="5162550"/>
            <a:ext cx="8102789" cy="5255895"/>
          </a:xfrm>
          <a:prstGeom prst="rect">
            <a:avLst/>
          </a:prstGeom>
        </p:spPr>
        <p:txBody>
          <a:bodyPr anchor="t" rtlCol="false" tIns="0" lIns="0" bIns="0" rIns="0">
            <a:spAutoFit/>
          </a:bodyPr>
          <a:lstStyle/>
          <a:p>
            <a:pPr algn="l" marL="0" indent="0" lvl="0">
              <a:lnSpc>
                <a:spcPts val="1470"/>
              </a:lnSpc>
              <a:spcBef>
                <a:spcPct val="0"/>
              </a:spcBef>
            </a:pPr>
            <a:r>
              <a:rPr lang="en-US" b="true" sz="1400" strike="noStrike" u="none">
                <a:solidFill>
                  <a:srgbClr val="000000"/>
                </a:solidFill>
                <a:latin typeface="Canva Sans Bold"/>
                <a:ea typeface="Canva Sans Bold"/>
                <a:cs typeface="Canva Sans Bold"/>
                <a:sym typeface="Canva Sans Bold"/>
              </a:rPr>
              <a:t>WITH order_totals AS (</a:t>
            </a:r>
          </a:p>
          <a:p>
            <a:pPr algn="l" marL="0" indent="0" lvl="0">
              <a:lnSpc>
                <a:spcPts val="1470"/>
              </a:lnSpc>
              <a:spcBef>
                <a:spcPct val="0"/>
              </a:spcBef>
            </a:pPr>
            <a:r>
              <a:rPr lang="en-US" b="true" sz="1400" strike="noStrike" u="none">
                <a:solidFill>
                  <a:srgbClr val="000000"/>
                </a:solidFill>
                <a:latin typeface="Canva Sans Bold"/>
                <a:ea typeface="Canva Sans Bold"/>
                <a:cs typeface="Canva Sans Bold"/>
                <a:sym typeface="Canva Sans Bold"/>
              </a:rPr>
              <a:t>    SELECT </a:t>
            </a:r>
          </a:p>
          <a:p>
            <a:pPr algn="l" marL="0" indent="0" lvl="0">
              <a:lnSpc>
                <a:spcPts val="1470"/>
              </a:lnSpc>
              <a:spcBef>
                <a:spcPct val="0"/>
              </a:spcBef>
            </a:pPr>
            <a:r>
              <a:rPr lang="en-US" b="true" sz="1400" strike="noStrike" u="none">
                <a:solidFill>
                  <a:srgbClr val="000000"/>
                </a:solidFill>
                <a:latin typeface="Canva Sans Bold"/>
                <a:ea typeface="Canva Sans Bold"/>
                <a:cs typeface="Canva Sans Bold"/>
                <a:sym typeface="Canva Sans Bold"/>
              </a:rPr>
              <a:t>        od.order_id,</a:t>
            </a:r>
          </a:p>
          <a:p>
            <a:pPr algn="l" marL="0" indent="0" lvl="0">
              <a:lnSpc>
                <a:spcPts val="1470"/>
              </a:lnSpc>
              <a:spcBef>
                <a:spcPct val="0"/>
              </a:spcBef>
            </a:pPr>
            <a:r>
              <a:rPr lang="en-US" b="true" sz="1400" strike="noStrike" u="none">
                <a:solidFill>
                  <a:srgbClr val="000000"/>
                </a:solidFill>
                <a:latin typeface="Canva Sans Bold"/>
                <a:ea typeface="Canva Sans Bold"/>
                <a:cs typeface="Canva Sans Bold"/>
                <a:sym typeface="Canva Sans Bold"/>
              </a:rPr>
              <a:t>        SUM(od.quantity) AS total_pizzas,</a:t>
            </a:r>
          </a:p>
          <a:p>
            <a:pPr algn="l" marL="0" indent="0" lvl="0">
              <a:lnSpc>
                <a:spcPts val="1470"/>
              </a:lnSpc>
              <a:spcBef>
                <a:spcPct val="0"/>
              </a:spcBef>
            </a:pPr>
            <a:r>
              <a:rPr lang="en-US" b="true" sz="1400" strike="noStrike" u="none">
                <a:solidFill>
                  <a:srgbClr val="000000"/>
                </a:solidFill>
                <a:latin typeface="Canva Sans Bold"/>
                <a:ea typeface="Canva Sans Bold"/>
                <a:cs typeface="Canva Sans Bold"/>
                <a:sym typeface="Canva Sans Bold"/>
              </a:rPr>
              <a:t>        SUM(p.price * od.quantity) AS order_revenue</a:t>
            </a:r>
          </a:p>
          <a:p>
            <a:pPr algn="l" marL="0" indent="0" lvl="0">
              <a:lnSpc>
                <a:spcPts val="1470"/>
              </a:lnSpc>
              <a:spcBef>
                <a:spcPct val="0"/>
              </a:spcBef>
            </a:pPr>
            <a:r>
              <a:rPr lang="en-US" b="true" sz="1400" strike="noStrike" u="none">
                <a:solidFill>
                  <a:srgbClr val="000000"/>
                </a:solidFill>
                <a:latin typeface="Canva Sans Bold"/>
                <a:ea typeface="Canva Sans Bold"/>
                <a:cs typeface="Canva Sans Bold"/>
                <a:sym typeface="Canva Sans Bold"/>
              </a:rPr>
              <a:t>    FROM order_details od</a:t>
            </a:r>
          </a:p>
          <a:p>
            <a:pPr algn="l" marL="0" indent="0" lvl="0">
              <a:lnSpc>
                <a:spcPts val="1470"/>
              </a:lnSpc>
              <a:spcBef>
                <a:spcPct val="0"/>
              </a:spcBef>
            </a:pPr>
            <a:r>
              <a:rPr lang="en-US" b="true" sz="1400" strike="noStrike" u="none">
                <a:solidFill>
                  <a:srgbClr val="000000"/>
                </a:solidFill>
                <a:latin typeface="Canva Sans Bold"/>
                <a:ea typeface="Canva Sans Bold"/>
                <a:cs typeface="Canva Sans Bold"/>
                <a:sym typeface="Canva Sans Bold"/>
              </a:rPr>
              <a:t>    JOIN pizzas p ON od.pizza_id = p.pizza_id</a:t>
            </a:r>
          </a:p>
          <a:p>
            <a:pPr algn="l" marL="0" indent="0" lvl="0">
              <a:lnSpc>
                <a:spcPts val="1470"/>
              </a:lnSpc>
              <a:spcBef>
                <a:spcPct val="0"/>
              </a:spcBef>
            </a:pPr>
            <a:r>
              <a:rPr lang="en-US" b="true" sz="1400" strike="noStrike" u="none">
                <a:solidFill>
                  <a:srgbClr val="000000"/>
                </a:solidFill>
                <a:latin typeface="Canva Sans Bold"/>
                <a:ea typeface="Canva Sans Bold"/>
                <a:cs typeface="Canva Sans Bold"/>
                <a:sym typeface="Canva Sans Bold"/>
              </a:rPr>
              <a:t>    GROUP BY od.order_id</a:t>
            </a:r>
          </a:p>
          <a:p>
            <a:pPr algn="l" marL="0" indent="0" lvl="0">
              <a:lnSpc>
                <a:spcPts val="1470"/>
              </a:lnSpc>
              <a:spcBef>
                <a:spcPct val="0"/>
              </a:spcBef>
            </a:pPr>
            <a:r>
              <a:rPr lang="en-US" b="true" sz="1400" strike="noStrike" u="none">
                <a:solidFill>
                  <a:srgbClr val="000000"/>
                </a:solidFill>
                <a:latin typeface="Canva Sans Bold"/>
                <a:ea typeface="Canva Sans Bold"/>
                <a:cs typeface="Canva Sans Bold"/>
                <a:sym typeface="Canva Sans Bold"/>
              </a:rPr>
              <a:t>),</a:t>
            </a:r>
          </a:p>
          <a:p>
            <a:pPr algn="l" marL="0" indent="0" lvl="0">
              <a:lnSpc>
                <a:spcPts val="1470"/>
              </a:lnSpc>
              <a:spcBef>
                <a:spcPct val="0"/>
              </a:spcBef>
            </a:pPr>
            <a:r>
              <a:rPr lang="en-US" b="true" sz="1400" strike="noStrike" u="none">
                <a:solidFill>
                  <a:srgbClr val="000000"/>
                </a:solidFill>
                <a:latin typeface="Canva Sans Bold"/>
                <a:ea typeface="Canva Sans Bold"/>
                <a:cs typeface="Canva Sans Bold"/>
                <a:sym typeface="Canva Sans Bold"/>
              </a:rPr>
              <a:t>classified_orders AS (</a:t>
            </a:r>
          </a:p>
          <a:p>
            <a:pPr algn="l" marL="0" indent="0" lvl="0">
              <a:lnSpc>
                <a:spcPts val="1470"/>
              </a:lnSpc>
              <a:spcBef>
                <a:spcPct val="0"/>
              </a:spcBef>
            </a:pPr>
            <a:r>
              <a:rPr lang="en-US" b="true" sz="1400" strike="noStrike" u="none">
                <a:solidFill>
                  <a:srgbClr val="000000"/>
                </a:solidFill>
                <a:latin typeface="Canva Sans Bold"/>
                <a:ea typeface="Canva Sans Bold"/>
                <a:cs typeface="Canva Sans Bold"/>
                <a:sym typeface="Canva Sans Bold"/>
              </a:rPr>
              <a:t>    SELECT </a:t>
            </a:r>
          </a:p>
          <a:p>
            <a:pPr algn="l" marL="0" indent="0" lvl="0">
              <a:lnSpc>
                <a:spcPts val="1470"/>
              </a:lnSpc>
              <a:spcBef>
                <a:spcPct val="0"/>
              </a:spcBef>
            </a:pPr>
            <a:r>
              <a:rPr lang="en-US" b="true" sz="1400" strike="noStrike" u="none">
                <a:solidFill>
                  <a:srgbClr val="000000"/>
                </a:solidFill>
                <a:latin typeface="Canva Sans Bold"/>
                <a:ea typeface="Canva Sans Bold"/>
                <a:cs typeface="Canva Sans Bold"/>
                <a:sym typeface="Canva Sans Bold"/>
              </a:rPr>
              <a:t>        order_id,</a:t>
            </a:r>
          </a:p>
          <a:p>
            <a:pPr algn="l" marL="0" indent="0" lvl="0">
              <a:lnSpc>
                <a:spcPts val="1470"/>
              </a:lnSpc>
              <a:spcBef>
                <a:spcPct val="0"/>
              </a:spcBef>
            </a:pPr>
            <a:r>
              <a:rPr lang="en-US" b="true" sz="1400" strike="noStrike" u="none">
                <a:solidFill>
                  <a:srgbClr val="000000"/>
                </a:solidFill>
                <a:latin typeface="Canva Sans Bold"/>
                <a:ea typeface="Canva Sans Bold"/>
                <a:cs typeface="Canva Sans Bold"/>
                <a:sym typeface="Canva Sans Bold"/>
              </a:rPr>
              <a:t>        order_revenue,</a:t>
            </a:r>
          </a:p>
          <a:p>
            <a:pPr algn="l" marL="0" indent="0" lvl="0">
              <a:lnSpc>
                <a:spcPts val="1470"/>
              </a:lnSpc>
              <a:spcBef>
                <a:spcPct val="0"/>
              </a:spcBef>
            </a:pPr>
            <a:r>
              <a:rPr lang="en-US" b="true" sz="1400" strike="noStrike" u="none">
                <a:solidFill>
                  <a:srgbClr val="000000"/>
                </a:solidFill>
                <a:latin typeface="Canva Sans Bold"/>
                <a:ea typeface="Canva Sans Bold"/>
                <a:cs typeface="Canva Sans Bold"/>
                <a:sym typeface="Canva Sans Bold"/>
              </a:rPr>
              <a:t>        CASE </a:t>
            </a:r>
          </a:p>
          <a:p>
            <a:pPr algn="l" marL="0" indent="0" lvl="0">
              <a:lnSpc>
                <a:spcPts val="1470"/>
              </a:lnSpc>
              <a:spcBef>
                <a:spcPct val="0"/>
              </a:spcBef>
            </a:pPr>
            <a:r>
              <a:rPr lang="en-US" b="true" sz="1400" strike="noStrike" u="none">
                <a:solidFill>
                  <a:srgbClr val="000000"/>
                </a:solidFill>
                <a:latin typeface="Canva Sans Bold"/>
                <a:ea typeface="Canva Sans Bold"/>
                <a:cs typeface="Canva Sans Bold"/>
                <a:sym typeface="Canva Sans Bold"/>
              </a:rPr>
              <a:t>            WHEN total_pizzas &gt;= 4 THEN 'Великі (4+ піци)'</a:t>
            </a:r>
          </a:p>
          <a:p>
            <a:pPr algn="l" marL="0" indent="0" lvl="0">
              <a:lnSpc>
                <a:spcPts val="1470"/>
              </a:lnSpc>
              <a:spcBef>
                <a:spcPct val="0"/>
              </a:spcBef>
            </a:pPr>
            <a:r>
              <a:rPr lang="en-US" b="true" sz="1400" strike="noStrike" u="none">
                <a:solidFill>
                  <a:srgbClr val="000000"/>
                </a:solidFill>
                <a:latin typeface="Canva Sans Bold"/>
                <a:ea typeface="Canva Sans Bold"/>
                <a:cs typeface="Canva Sans Bold"/>
                <a:sym typeface="Canva Sans Bold"/>
              </a:rPr>
              <a:t>            ELSE 'Звичайні (1-3 піци)'</a:t>
            </a:r>
          </a:p>
          <a:p>
            <a:pPr algn="l" marL="0" indent="0" lvl="0">
              <a:lnSpc>
                <a:spcPts val="1470"/>
              </a:lnSpc>
              <a:spcBef>
                <a:spcPct val="0"/>
              </a:spcBef>
            </a:pPr>
            <a:r>
              <a:rPr lang="en-US" b="true" sz="1400" strike="noStrike" u="none">
                <a:solidFill>
                  <a:srgbClr val="000000"/>
                </a:solidFill>
                <a:latin typeface="Canva Sans Bold"/>
                <a:ea typeface="Canva Sans Bold"/>
                <a:cs typeface="Canva Sans Bold"/>
                <a:sym typeface="Canva Sans Bold"/>
              </a:rPr>
              <a:t>        END AS order_type</a:t>
            </a:r>
          </a:p>
          <a:p>
            <a:pPr algn="l" marL="0" indent="0" lvl="0">
              <a:lnSpc>
                <a:spcPts val="1470"/>
              </a:lnSpc>
              <a:spcBef>
                <a:spcPct val="0"/>
              </a:spcBef>
            </a:pPr>
            <a:r>
              <a:rPr lang="en-US" b="true" sz="1400" strike="noStrike" u="none">
                <a:solidFill>
                  <a:srgbClr val="000000"/>
                </a:solidFill>
                <a:latin typeface="Canva Sans Bold"/>
                <a:ea typeface="Canva Sans Bold"/>
                <a:cs typeface="Canva Sans Bold"/>
                <a:sym typeface="Canva Sans Bold"/>
              </a:rPr>
              <a:t>    FROM order_totals</a:t>
            </a:r>
          </a:p>
          <a:p>
            <a:pPr algn="l" marL="0" indent="0" lvl="0">
              <a:lnSpc>
                <a:spcPts val="1470"/>
              </a:lnSpc>
              <a:spcBef>
                <a:spcPct val="0"/>
              </a:spcBef>
            </a:pPr>
            <a:r>
              <a:rPr lang="en-US" b="true" sz="1400" strike="noStrike" u="none">
                <a:solidFill>
                  <a:srgbClr val="000000"/>
                </a:solidFill>
                <a:latin typeface="Canva Sans Bold"/>
                <a:ea typeface="Canva Sans Bold"/>
                <a:cs typeface="Canva Sans Bold"/>
                <a:sym typeface="Canva Sans Bold"/>
              </a:rPr>
              <a:t>)</a:t>
            </a:r>
          </a:p>
          <a:p>
            <a:pPr algn="l" marL="0" indent="0" lvl="0">
              <a:lnSpc>
                <a:spcPts val="1470"/>
              </a:lnSpc>
              <a:spcBef>
                <a:spcPct val="0"/>
              </a:spcBef>
            </a:pPr>
            <a:r>
              <a:rPr lang="en-US" b="true" sz="1400" strike="noStrike" u="none">
                <a:solidFill>
                  <a:srgbClr val="000000"/>
                </a:solidFill>
                <a:latin typeface="Canva Sans Bold"/>
                <a:ea typeface="Canva Sans Bold"/>
                <a:cs typeface="Canva Sans Bold"/>
                <a:sym typeface="Canva Sans Bold"/>
              </a:rPr>
              <a:t>SELECT </a:t>
            </a:r>
          </a:p>
          <a:p>
            <a:pPr algn="l" marL="0" indent="0" lvl="0">
              <a:lnSpc>
                <a:spcPts val="1470"/>
              </a:lnSpc>
              <a:spcBef>
                <a:spcPct val="0"/>
              </a:spcBef>
            </a:pPr>
            <a:r>
              <a:rPr lang="en-US" b="true" sz="1400" strike="noStrike" u="none">
                <a:solidFill>
                  <a:srgbClr val="000000"/>
                </a:solidFill>
                <a:latin typeface="Canva Sans Bold"/>
                <a:ea typeface="Canva Sans Bold"/>
                <a:cs typeface="Canva Sans Bold"/>
                <a:sym typeface="Canva Sans Bold"/>
              </a:rPr>
              <a:t>    order_type,</a:t>
            </a:r>
          </a:p>
          <a:p>
            <a:pPr algn="l" marL="0" indent="0" lvl="0">
              <a:lnSpc>
                <a:spcPts val="1470"/>
              </a:lnSpc>
              <a:spcBef>
                <a:spcPct val="0"/>
              </a:spcBef>
            </a:pPr>
            <a:r>
              <a:rPr lang="en-US" b="true" sz="1400" strike="noStrike" u="none">
                <a:solidFill>
                  <a:srgbClr val="000000"/>
                </a:solidFill>
                <a:latin typeface="Canva Sans Bold"/>
                <a:ea typeface="Canva Sans Bold"/>
                <a:cs typeface="Canva Sans Bold"/>
                <a:sym typeface="Canva Sans Bold"/>
              </a:rPr>
              <a:t>    COUNT(order_id) AS orders_count,</a:t>
            </a:r>
          </a:p>
          <a:p>
            <a:pPr algn="l" marL="0" indent="0" lvl="0">
              <a:lnSpc>
                <a:spcPts val="1470"/>
              </a:lnSpc>
              <a:spcBef>
                <a:spcPct val="0"/>
              </a:spcBef>
            </a:pPr>
            <a:r>
              <a:rPr lang="en-US" b="true" sz="1400" strike="noStrike" u="none">
                <a:solidFill>
                  <a:srgbClr val="000000"/>
                </a:solidFill>
                <a:latin typeface="Canva Sans Bold"/>
                <a:ea typeface="Canva Sans Bold"/>
                <a:cs typeface="Canva Sans Bold"/>
                <a:sym typeface="Canva Sans Bold"/>
              </a:rPr>
              <a:t>    ROUND(COUNT(order_id) * 100.0 / SUM(COUNT(order_id)) OVER (), 2) AS orders_share_pct,</a:t>
            </a:r>
          </a:p>
          <a:p>
            <a:pPr algn="l" marL="0" indent="0" lvl="0">
              <a:lnSpc>
                <a:spcPts val="1470"/>
              </a:lnSpc>
              <a:spcBef>
                <a:spcPct val="0"/>
              </a:spcBef>
            </a:pPr>
            <a:r>
              <a:rPr lang="en-US" b="true" sz="1400" strike="noStrike" u="none">
                <a:solidFill>
                  <a:srgbClr val="000000"/>
                </a:solidFill>
                <a:latin typeface="Canva Sans Bold"/>
                <a:ea typeface="Canva Sans Bold"/>
                <a:cs typeface="Canva Sans Bold"/>
                <a:sym typeface="Canva Sans Bold"/>
              </a:rPr>
              <a:t>    ROUND(SUM(order_revenue), 2) AS total_revenue,</a:t>
            </a:r>
          </a:p>
          <a:p>
            <a:pPr algn="l" marL="0" indent="0" lvl="0">
              <a:lnSpc>
                <a:spcPts val="1470"/>
              </a:lnSpc>
              <a:spcBef>
                <a:spcPct val="0"/>
              </a:spcBef>
            </a:pPr>
            <a:r>
              <a:rPr lang="en-US" b="true" sz="1400" strike="noStrike" u="none">
                <a:solidFill>
                  <a:srgbClr val="000000"/>
                </a:solidFill>
                <a:latin typeface="Canva Sans Bold"/>
                <a:ea typeface="Canva Sans Bold"/>
                <a:cs typeface="Canva Sans Bold"/>
                <a:sym typeface="Canva Sans Bold"/>
              </a:rPr>
              <a:t>    ROUND(SUM(order_revenue) * 100.0 / SUM(SUM(order_revenue)) OVER (), 2) AS revenue_share_pct</a:t>
            </a:r>
          </a:p>
          <a:p>
            <a:pPr algn="l" marL="0" indent="0" lvl="0">
              <a:lnSpc>
                <a:spcPts val="1470"/>
              </a:lnSpc>
              <a:spcBef>
                <a:spcPct val="0"/>
              </a:spcBef>
            </a:pPr>
            <a:r>
              <a:rPr lang="en-US" b="true" sz="1400" strike="noStrike" u="none">
                <a:solidFill>
                  <a:srgbClr val="000000"/>
                </a:solidFill>
                <a:latin typeface="Canva Sans Bold"/>
                <a:ea typeface="Canva Sans Bold"/>
                <a:cs typeface="Canva Sans Bold"/>
                <a:sym typeface="Canva Sans Bold"/>
              </a:rPr>
              <a:t>FROM classified_orders</a:t>
            </a:r>
          </a:p>
          <a:p>
            <a:pPr algn="l" marL="0" indent="0" lvl="0">
              <a:lnSpc>
                <a:spcPts val="1470"/>
              </a:lnSpc>
              <a:spcBef>
                <a:spcPct val="0"/>
              </a:spcBef>
            </a:pPr>
            <a:r>
              <a:rPr lang="en-US" b="true" sz="1400" strike="noStrike" u="none">
                <a:solidFill>
                  <a:srgbClr val="000000"/>
                </a:solidFill>
                <a:latin typeface="Canva Sans Bold"/>
                <a:ea typeface="Canva Sans Bold"/>
                <a:cs typeface="Canva Sans Bold"/>
                <a:sym typeface="Canva Sans Bold"/>
              </a:rPr>
              <a:t>GROUP BY order_type;</a:t>
            </a:r>
          </a:p>
          <a:p>
            <a:pPr algn="l" marL="0" indent="0" lvl="0">
              <a:lnSpc>
                <a:spcPts val="1470"/>
              </a:lnSpc>
              <a:spcBef>
                <a:spcPct val="0"/>
              </a:spcBef>
            </a:pPr>
          </a:p>
        </p:txBody>
      </p:sp>
      <p:sp>
        <p:nvSpPr>
          <p:cNvPr name="TextBox 13" id="13"/>
          <p:cNvSpPr txBox="true"/>
          <p:nvPr/>
        </p:nvSpPr>
        <p:spPr>
          <a:xfrm rot="0">
            <a:off x="6673935" y="1800112"/>
            <a:ext cx="10917374" cy="1240156"/>
          </a:xfrm>
          <a:prstGeom prst="rect">
            <a:avLst/>
          </a:prstGeom>
        </p:spPr>
        <p:txBody>
          <a:bodyPr anchor="t" rtlCol="false" tIns="0" lIns="0" bIns="0" rIns="0">
            <a:spAutoFit/>
          </a:bodyPr>
          <a:lstStyle/>
          <a:p>
            <a:pPr algn="l">
              <a:lnSpc>
                <a:spcPts val="4830"/>
              </a:lnSpc>
            </a:pPr>
            <a:r>
              <a:rPr lang="en-US" sz="4600">
                <a:solidFill>
                  <a:srgbClr val="000000"/>
                </a:solidFill>
                <a:latin typeface="Gulfs Display"/>
                <a:ea typeface="Gulfs Display"/>
                <a:cs typeface="Gulfs Display"/>
                <a:sym typeface="Gulfs Display"/>
              </a:rPr>
              <a:t>ВЕЛИКІ ПІЦИ (4+ ПІЦИ) = 39.44% УСІЄЇ ВИРУЧКИ</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EDCF"/>
        </a:solidFill>
      </p:bgPr>
    </p:bg>
    <p:spTree>
      <p:nvGrpSpPr>
        <p:cNvPr id="1" name=""/>
        <p:cNvGrpSpPr/>
        <p:nvPr/>
      </p:nvGrpSpPr>
      <p:grpSpPr>
        <a:xfrm>
          <a:off x="0" y="0"/>
          <a:ext cx="0" cy="0"/>
          <a:chOff x="0" y="0"/>
          <a:chExt cx="0" cy="0"/>
        </a:xfrm>
      </p:grpSpPr>
      <p:grpSp>
        <p:nvGrpSpPr>
          <p:cNvPr name="Group 2" id="2"/>
          <p:cNvGrpSpPr/>
          <p:nvPr/>
        </p:nvGrpSpPr>
        <p:grpSpPr>
          <a:xfrm rot="-10800000">
            <a:off x="1028700" y="2610231"/>
            <a:ext cx="5003047" cy="8537548"/>
            <a:chOff x="0" y="0"/>
            <a:chExt cx="764922" cy="1305316"/>
          </a:xfrm>
        </p:grpSpPr>
        <p:sp>
          <p:nvSpPr>
            <p:cNvPr name="Freeform 3" id="3"/>
            <p:cNvSpPr/>
            <p:nvPr/>
          </p:nvSpPr>
          <p:spPr>
            <a:xfrm flipH="false" flipV="false" rot="0">
              <a:off x="0" y="0"/>
              <a:ext cx="764922" cy="1305316"/>
            </a:xfrm>
            <a:custGeom>
              <a:avLst/>
              <a:gdLst/>
              <a:ahLst/>
              <a:cxnLst/>
              <a:rect r="r" b="b" t="t" l="l"/>
              <a:pathLst>
                <a:path h="1305316" w="764922">
                  <a:moveTo>
                    <a:pt x="255112" y="1286247"/>
                  </a:moveTo>
                  <a:cubicBezTo>
                    <a:pt x="294327" y="1297760"/>
                    <a:pt x="338910" y="1305316"/>
                    <a:pt x="382667" y="1305316"/>
                  </a:cubicBezTo>
                  <a:cubicBezTo>
                    <a:pt x="426425" y="1305316"/>
                    <a:pt x="468531" y="1298839"/>
                    <a:pt x="507333" y="1287325"/>
                  </a:cubicBezTo>
                  <a:cubicBezTo>
                    <a:pt x="508160" y="1286965"/>
                    <a:pt x="508985" y="1286965"/>
                    <a:pt x="509810" y="1286606"/>
                  </a:cubicBezTo>
                  <a:cubicBezTo>
                    <a:pt x="655529" y="1240551"/>
                    <a:pt x="762858" y="1118937"/>
                    <a:pt x="764922" y="965874"/>
                  </a:cubicBezTo>
                  <a:lnTo>
                    <a:pt x="764922" y="0"/>
                  </a:lnTo>
                  <a:lnTo>
                    <a:pt x="0" y="0"/>
                  </a:lnTo>
                  <a:lnTo>
                    <a:pt x="0" y="965157"/>
                  </a:lnTo>
                  <a:cubicBezTo>
                    <a:pt x="2064" y="1119656"/>
                    <a:pt x="107741" y="1241271"/>
                    <a:pt x="255112" y="1286247"/>
                  </a:cubicBezTo>
                  <a:close/>
                </a:path>
              </a:pathLst>
            </a:custGeom>
            <a:solidFill>
              <a:srgbClr val="FA5733"/>
            </a:solidFill>
            <a:ln cap="sq">
              <a:noFill/>
              <a:prstDash val="solid"/>
              <a:miter/>
            </a:ln>
          </p:spPr>
        </p:sp>
        <p:sp>
          <p:nvSpPr>
            <p:cNvPr name="TextBox 4" id="4"/>
            <p:cNvSpPr txBox="true"/>
            <p:nvPr/>
          </p:nvSpPr>
          <p:spPr>
            <a:xfrm>
              <a:off x="0" y="-38100"/>
              <a:ext cx="764922" cy="121641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3287539" y="2610231"/>
            <a:ext cx="4306877" cy="430687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5733"/>
            </a:solidFill>
            <a:ln w="47625" cap="sq">
              <a:solidFill>
                <a:srgbClr val="00000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3574674" y="2897366"/>
            <a:ext cx="3732607" cy="373260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0" t="0" r="0" b="0"/>
              </a:stretch>
            </a:blipFill>
          </p:spPr>
        </p:sp>
      </p:grpSp>
      <p:sp>
        <p:nvSpPr>
          <p:cNvPr name="TextBox 10" id="10"/>
          <p:cNvSpPr txBox="true"/>
          <p:nvPr/>
        </p:nvSpPr>
        <p:spPr>
          <a:xfrm rot="0">
            <a:off x="0" y="77966"/>
            <a:ext cx="13834601" cy="1895475"/>
          </a:xfrm>
          <a:prstGeom prst="rect">
            <a:avLst/>
          </a:prstGeom>
        </p:spPr>
        <p:txBody>
          <a:bodyPr anchor="t" rtlCol="false" tIns="0" lIns="0" bIns="0" rIns="0">
            <a:spAutoFit/>
          </a:bodyPr>
          <a:lstStyle/>
          <a:p>
            <a:pPr algn="l">
              <a:lnSpc>
                <a:spcPts val="7349"/>
              </a:lnSpc>
            </a:pPr>
            <a:r>
              <a:rPr lang="en-US" sz="6999">
                <a:solidFill>
                  <a:srgbClr val="000000"/>
                </a:solidFill>
                <a:latin typeface="Gulfs Display"/>
                <a:ea typeface="Gulfs Display"/>
                <a:cs typeface="Gulfs Display"/>
                <a:sym typeface="Gulfs Display"/>
              </a:rPr>
              <a:t>АКЦІЯ "ПІЗНІ ОБІДИ", ПН - ЧТ З 14:00-16:00.</a:t>
            </a:r>
          </a:p>
        </p:txBody>
      </p:sp>
      <p:sp>
        <p:nvSpPr>
          <p:cNvPr name="TextBox 11" id="11"/>
          <p:cNvSpPr txBox="true"/>
          <p:nvPr/>
        </p:nvSpPr>
        <p:spPr>
          <a:xfrm rot="0">
            <a:off x="7767146" y="1255473"/>
            <a:ext cx="9934313" cy="3442335"/>
          </a:xfrm>
          <a:prstGeom prst="rect">
            <a:avLst/>
          </a:prstGeom>
        </p:spPr>
        <p:txBody>
          <a:bodyPr anchor="t" rtlCol="false" tIns="0" lIns="0" bIns="0" rIns="0">
            <a:spAutoFit/>
          </a:bodyPr>
          <a:lstStyle/>
          <a:p>
            <a:pPr algn="l" marL="474984" indent="-237492" lvl="1">
              <a:lnSpc>
                <a:spcPts val="2310"/>
              </a:lnSpc>
              <a:buFont typeface="Arial"/>
              <a:buChar char="•"/>
            </a:pPr>
            <a:r>
              <a:rPr lang="en-US" b="true" sz="2200">
                <a:solidFill>
                  <a:srgbClr val="000000"/>
                </a:solidFill>
                <a:latin typeface="Canva Sans Bold"/>
                <a:ea typeface="Canva Sans Bold"/>
                <a:cs typeface="Canva Sans Bold"/>
                <a:sym typeface="Canva Sans Bold"/>
              </a:rPr>
              <a:t>Проаналізувавши дані пропоную запустити Акцію в різні часові проміжки: акція з Понеділка по Четвер з 14:00-16:00 - "Пізні обіди".</a:t>
            </a:r>
          </a:p>
          <a:p>
            <a:pPr algn="l" marL="474984" indent="-237492" lvl="1">
              <a:lnSpc>
                <a:spcPts val="2310"/>
              </a:lnSpc>
              <a:buFont typeface="Arial"/>
              <a:buChar char="•"/>
            </a:pPr>
            <a:r>
              <a:rPr lang="en-US" b="true" sz="2200">
                <a:solidFill>
                  <a:srgbClr val="000000"/>
                </a:solidFill>
                <a:latin typeface="Canva Sans Bold"/>
                <a:ea typeface="Canva Sans Bold"/>
                <a:cs typeface="Canva Sans Bold"/>
                <a:sym typeface="Canva Sans Bold"/>
              </a:rPr>
              <a:t> Пропозиція: знижка 15% або безкоштовний напій на другу піцу в замовленні. </a:t>
            </a:r>
          </a:p>
          <a:p>
            <a:pPr algn="l" marL="474984" indent="-237492" lvl="1">
              <a:lnSpc>
                <a:spcPts val="2310"/>
              </a:lnSpc>
              <a:buFont typeface="Arial"/>
              <a:buChar char="•"/>
            </a:pPr>
            <a:r>
              <a:rPr lang="en-US" b="true" sz="2200">
                <a:solidFill>
                  <a:srgbClr val="000000"/>
                </a:solidFill>
                <a:latin typeface="Canva Sans Bold"/>
                <a:ea typeface="Canva Sans Bold"/>
                <a:cs typeface="Canva Sans Bold"/>
                <a:sym typeface="Canva Sans Bold"/>
              </a:rPr>
              <a:t>Поточна виручка вікна: 62 567,7. Зростання на 10% дасть +6256,77 (разом 68 824,47). </a:t>
            </a:r>
          </a:p>
          <a:p>
            <a:pPr algn="l" marL="474984" indent="-237492" lvl="1">
              <a:lnSpc>
                <a:spcPts val="2310"/>
              </a:lnSpc>
              <a:buFont typeface="Arial"/>
              <a:buChar char="•"/>
            </a:pPr>
            <a:r>
              <a:rPr lang="en-US" b="true" sz="2200">
                <a:solidFill>
                  <a:srgbClr val="000000"/>
                </a:solidFill>
                <a:latin typeface="Canva Sans Bold"/>
                <a:ea typeface="Canva Sans Bold"/>
                <a:cs typeface="Canva Sans Bold"/>
                <a:sym typeface="Canva Sans Bold"/>
              </a:rPr>
              <a:t>Після 21:00 - акція "Вечеря на виніс", вона хоч і дає приріст +2577,39, але є стратегічно виправданим кроком для покращення операційних процесів, щоб оптимізувати утилізацію ресурсів, коли обладнання та люди не стоять без діла.</a:t>
            </a:r>
          </a:p>
        </p:txBody>
      </p:sp>
      <p:sp>
        <p:nvSpPr>
          <p:cNvPr name="TextBox 12" id="12"/>
          <p:cNvSpPr txBox="true"/>
          <p:nvPr/>
        </p:nvSpPr>
        <p:spPr>
          <a:xfrm rot="0">
            <a:off x="6031747" y="6936158"/>
            <a:ext cx="9143684" cy="2870172"/>
          </a:xfrm>
          <a:prstGeom prst="rect">
            <a:avLst/>
          </a:prstGeom>
        </p:spPr>
        <p:txBody>
          <a:bodyPr anchor="t" rtlCol="false" tIns="0" lIns="0" bIns="0" rIns="0">
            <a:spAutoFit/>
          </a:bodyPr>
          <a:lstStyle/>
          <a:p>
            <a:pPr algn="l">
              <a:lnSpc>
                <a:spcPts val="1658"/>
              </a:lnSpc>
            </a:pPr>
            <a:r>
              <a:rPr lang="en-US" sz="1579" b="true">
                <a:solidFill>
                  <a:srgbClr val="000000"/>
                </a:solidFill>
                <a:latin typeface="Canva Sans Bold"/>
                <a:ea typeface="Canva Sans Bold"/>
                <a:cs typeface="Canva Sans Bold"/>
                <a:sym typeface="Canva Sans Bold"/>
              </a:rPr>
              <a:t>SELECT</a:t>
            </a:r>
          </a:p>
          <a:p>
            <a:pPr algn="l">
              <a:lnSpc>
                <a:spcPts val="1658"/>
              </a:lnSpc>
            </a:pPr>
            <a:r>
              <a:rPr lang="en-US" sz="1579" b="true">
                <a:solidFill>
                  <a:srgbClr val="000000"/>
                </a:solidFill>
                <a:latin typeface="Canva Sans Bold"/>
                <a:ea typeface="Canva Sans Bold"/>
                <a:cs typeface="Canva Sans Bold"/>
                <a:sym typeface="Canva Sans Bold"/>
              </a:rPr>
              <a:t>   CASE WHEN strftime('%H', o.time) IN ('14', '15')</a:t>
            </a:r>
          </a:p>
          <a:p>
            <a:pPr algn="l">
              <a:lnSpc>
                <a:spcPts val="1658"/>
              </a:lnSpc>
            </a:pPr>
            <a:r>
              <a:rPr lang="en-US" sz="1579" b="true">
                <a:solidFill>
                  <a:srgbClr val="000000"/>
                </a:solidFill>
                <a:latin typeface="Canva Sans Bold"/>
                <a:ea typeface="Canva Sans Bold"/>
                <a:cs typeface="Canva Sans Bold"/>
                <a:sym typeface="Canva Sans Bold"/>
              </a:rPr>
              <a:t>        THEN 'Пн–Чт 14:00–16:00'</a:t>
            </a:r>
          </a:p>
          <a:p>
            <a:pPr algn="l">
              <a:lnSpc>
                <a:spcPts val="1658"/>
              </a:lnSpc>
            </a:pPr>
            <a:r>
              <a:rPr lang="en-US" sz="1579" b="true">
                <a:solidFill>
                  <a:srgbClr val="000000"/>
                </a:solidFill>
                <a:latin typeface="Canva Sans Bold"/>
                <a:ea typeface="Canva Sans Bold"/>
                <a:cs typeface="Canva Sans Bold"/>
                <a:sym typeface="Canva Sans Bold"/>
              </a:rPr>
              <a:t>        ELSE 'Пн–Чт 21:00–24:00' END AS time_window,</a:t>
            </a:r>
          </a:p>
          <a:p>
            <a:pPr algn="l">
              <a:lnSpc>
                <a:spcPts val="1658"/>
              </a:lnSpc>
            </a:pPr>
            <a:r>
              <a:rPr lang="en-US" sz="1579" b="true">
                <a:solidFill>
                  <a:srgbClr val="000000"/>
                </a:solidFill>
                <a:latin typeface="Canva Sans Bold"/>
                <a:ea typeface="Canva Sans Bold"/>
                <a:cs typeface="Canva Sans Bold"/>
                <a:sym typeface="Canva Sans Bold"/>
              </a:rPr>
              <a:t>   COUNT(DISTINCT o.order_id) AS total_orders,</a:t>
            </a:r>
          </a:p>
          <a:p>
            <a:pPr algn="l">
              <a:lnSpc>
                <a:spcPts val="1658"/>
              </a:lnSpc>
            </a:pPr>
            <a:r>
              <a:rPr lang="en-US" sz="1579" b="true">
                <a:solidFill>
                  <a:srgbClr val="000000"/>
                </a:solidFill>
                <a:latin typeface="Canva Sans Bold"/>
                <a:ea typeface="Canva Sans Bold"/>
                <a:cs typeface="Canva Sans Bold"/>
                <a:sym typeface="Canva Sans Bold"/>
              </a:rPr>
              <a:t>   ROUND(SUM(p.price * od.quantity), 2) AS current_revenue,</a:t>
            </a:r>
          </a:p>
          <a:p>
            <a:pPr algn="l">
              <a:lnSpc>
                <a:spcPts val="1658"/>
              </a:lnSpc>
            </a:pPr>
            <a:r>
              <a:rPr lang="en-US" sz="1579" b="true">
                <a:solidFill>
                  <a:srgbClr val="000000"/>
                </a:solidFill>
                <a:latin typeface="Canva Sans Bold"/>
                <a:ea typeface="Canva Sans Bold"/>
                <a:cs typeface="Canva Sans Bold"/>
                <a:sym typeface="Canva Sans Bold"/>
              </a:rPr>
              <a:t>   ROUND(SUM(p.price * od.quantity) * 0.10, 2) AS revenue_growth_10_pct</a:t>
            </a:r>
          </a:p>
          <a:p>
            <a:pPr algn="l">
              <a:lnSpc>
                <a:spcPts val="1658"/>
              </a:lnSpc>
            </a:pPr>
            <a:r>
              <a:rPr lang="en-US" sz="1579" b="true">
                <a:solidFill>
                  <a:srgbClr val="000000"/>
                </a:solidFill>
                <a:latin typeface="Canva Sans Bold"/>
                <a:ea typeface="Canva Sans Bold"/>
                <a:cs typeface="Canva Sans Bold"/>
                <a:sym typeface="Canva Sans Bold"/>
              </a:rPr>
              <a:t>FROM orders o</a:t>
            </a:r>
          </a:p>
          <a:p>
            <a:pPr algn="l">
              <a:lnSpc>
                <a:spcPts val="1658"/>
              </a:lnSpc>
            </a:pPr>
            <a:r>
              <a:rPr lang="en-US" sz="1579" b="true">
                <a:solidFill>
                  <a:srgbClr val="000000"/>
                </a:solidFill>
                <a:latin typeface="Canva Sans Bold"/>
                <a:ea typeface="Canva Sans Bold"/>
                <a:cs typeface="Canva Sans Bold"/>
                <a:sym typeface="Canva Sans Bold"/>
              </a:rPr>
              <a:t>JOIN order_details od ON o.order_id = od.order_id</a:t>
            </a:r>
          </a:p>
          <a:p>
            <a:pPr algn="l">
              <a:lnSpc>
                <a:spcPts val="1658"/>
              </a:lnSpc>
            </a:pPr>
            <a:r>
              <a:rPr lang="en-US" sz="1579" b="true">
                <a:solidFill>
                  <a:srgbClr val="000000"/>
                </a:solidFill>
                <a:latin typeface="Canva Sans Bold"/>
                <a:ea typeface="Canva Sans Bold"/>
                <a:cs typeface="Canva Sans Bold"/>
                <a:sym typeface="Canva Sans Bold"/>
              </a:rPr>
              <a:t>JOIN pizzas p ON od.pizza_id = p.pizza_id</a:t>
            </a:r>
          </a:p>
          <a:p>
            <a:pPr algn="l">
              <a:lnSpc>
                <a:spcPts val="1658"/>
              </a:lnSpc>
            </a:pPr>
            <a:r>
              <a:rPr lang="en-US" sz="1579" b="true">
                <a:solidFill>
                  <a:srgbClr val="000000"/>
                </a:solidFill>
                <a:latin typeface="Canva Sans Bold"/>
                <a:ea typeface="Canva Sans Bold"/>
                <a:cs typeface="Canva Sans Bold"/>
                <a:sym typeface="Canva Sans Bold"/>
              </a:rPr>
              <a:t>WHERE strftime('%w', o.date) IN ('1', '2', '3', '4')</a:t>
            </a:r>
          </a:p>
          <a:p>
            <a:pPr algn="l">
              <a:lnSpc>
                <a:spcPts val="1658"/>
              </a:lnSpc>
            </a:pPr>
            <a:r>
              <a:rPr lang="en-US" sz="1579" b="true">
                <a:solidFill>
                  <a:srgbClr val="000000"/>
                </a:solidFill>
                <a:latin typeface="Canva Sans Bold"/>
                <a:ea typeface="Canva Sans Bold"/>
                <a:cs typeface="Canva Sans Bold"/>
                <a:sym typeface="Canva Sans Bold"/>
              </a:rPr>
              <a:t>  AND strftime('%H', o.time) IN ('14', '15', '21', '22', '23')</a:t>
            </a:r>
          </a:p>
          <a:p>
            <a:pPr algn="l">
              <a:lnSpc>
                <a:spcPts val="1658"/>
              </a:lnSpc>
            </a:pPr>
            <a:r>
              <a:rPr lang="en-US" sz="1579" b="true">
                <a:solidFill>
                  <a:srgbClr val="000000"/>
                </a:solidFill>
                <a:latin typeface="Canva Sans Bold"/>
                <a:ea typeface="Canva Sans Bold"/>
                <a:cs typeface="Canva Sans Bold"/>
                <a:sym typeface="Canva Sans Bold"/>
              </a:rPr>
              <a:t>GROUP BY time_window;</a:t>
            </a:r>
          </a:p>
          <a:p>
            <a:pPr algn="l" marL="0" indent="0" lvl="0">
              <a:lnSpc>
                <a:spcPts val="1658"/>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EDCF"/>
        </a:solidFill>
      </p:bgPr>
    </p:bg>
    <p:spTree>
      <p:nvGrpSpPr>
        <p:cNvPr id="1" name=""/>
        <p:cNvGrpSpPr/>
        <p:nvPr/>
      </p:nvGrpSpPr>
      <p:grpSpPr>
        <a:xfrm>
          <a:off x="0" y="0"/>
          <a:ext cx="0" cy="0"/>
          <a:chOff x="0" y="0"/>
          <a:chExt cx="0" cy="0"/>
        </a:xfrm>
      </p:grpSpPr>
      <p:sp>
        <p:nvSpPr>
          <p:cNvPr name="Freeform 2" id="2"/>
          <p:cNvSpPr/>
          <p:nvPr/>
        </p:nvSpPr>
        <p:spPr>
          <a:xfrm flipH="false" flipV="false" rot="0">
            <a:off x="-129567" y="181000"/>
            <a:ext cx="18417567" cy="9721925"/>
          </a:xfrm>
          <a:custGeom>
            <a:avLst/>
            <a:gdLst/>
            <a:ahLst/>
            <a:cxnLst/>
            <a:rect r="r" b="b" t="t" l="l"/>
            <a:pathLst>
              <a:path h="9721925" w="18417567">
                <a:moveTo>
                  <a:pt x="0" y="0"/>
                </a:moveTo>
                <a:lnTo>
                  <a:pt x="18417567" y="0"/>
                </a:lnTo>
                <a:lnTo>
                  <a:pt x="18417567" y="9721925"/>
                </a:lnTo>
                <a:lnTo>
                  <a:pt x="0" y="9721925"/>
                </a:lnTo>
                <a:lnTo>
                  <a:pt x="0" y="0"/>
                </a:lnTo>
                <a:close/>
              </a:path>
            </a:pathLst>
          </a:custGeom>
          <a:blipFill>
            <a:blip r:embed="rId2"/>
            <a:stretch>
              <a:fillRect l="-333" t="-845" r="-9453"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EDCF"/>
        </a:solidFill>
      </p:bgPr>
    </p:bg>
    <p:spTree>
      <p:nvGrpSpPr>
        <p:cNvPr id="1" name=""/>
        <p:cNvGrpSpPr/>
        <p:nvPr/>
      </p:nvGrpSpPr>
      <p:grpSpPr>
        <a:xfrm>
          <a:off x="0" y="0"/>
          <a:ext cx="0" cy="0"/>
          <a:chOff x="0" y="0"/>
          <a:chExt cx="0" cy="0"/>
        </a:xfrm>
      </p:grpSpPr>
      <p:sp>
        <p:nvSpPr>
          <p:cNvPr name="Freeform 2" id="2"/>
          <p:cNvSpPr/>
          <p:nvPr/>
        </p:nvSpPr>
        <p:spPr>
          <a:xfrm flipH="false" flipV="false" rot="0">
            <a:off x="107890" y="269341"/>
            <a:ext cx="18180110" cy="9325504"/>
          </a:xfrm>
          <a:custGeom>
            <a:avLst/>
            <a:gdLst/>
            <a:ahLst/>
            <a:cxnLst/>
            <a:rect r="r" b="b" t="t" l="l"/>
            <a:pathLst>
              <a:path h="9325504" w="18180110">
                <a:moveTo>
                  <a:pt x="0" y="0"/>
                </a:moveTo>
                <a:lnTo>
                  <a:pt x="18180110" y="0"/>
                </a:lnTo>
                <a:lnTo>
                  <a:pt x="18180110" y="9325504"/>
                </a:lnTo>
                <a:lnTo>
                  <a:pt x="0" y="9325504"/>
                </a:lnTo>
                <a:lnTo>
                  <a:pt x="0" y="0"/>
                </a:lnTo>
                <a:close/>
              </a:path>
            </a:pathLst>
          </a:custGeom>
          <a:blipFill>
            <a:blip r:embed="rId2"/>
            <a:stretch>
              <a:fillRect l="-516" t="-315" r="0" b="-52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EDCF"/>
        </a:solidFill>
      </p:bgPr>
    </p:bg>
    <p:spTree>
      <p:nvGrpSpPr>
        <p:cNvPr id="1" name=""/>
        <p:cNvGrpSpPr/>
        <p:nvPr/>
      </p:nvGrpSpPr>
      <p:grpSpPr>
        <a:xfrm>
          <a:off x="0" y="0"/>
          <a:ext cx="0" cy="0"/>
          <a:chOff x="0" y="0"/>
          <a:chExt cx="0" cy="0"/>
        </a:xfrm>
      </p:grpSpPr>
      <p:grpSp>
        <p:nvGrpSpPr>
          <p:cNvPr name="Group 2" id="2"/>
          <p:cNvGrpSpPr/>
          <p:nvPr/>
        </p:nvGrpSpPr>
        <p:grpSpPr>
          <a:xfrm rot="0">
            <a:off x="-1278167" y="4889579"/>
            <a:ext cx="8226395" cy="822639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5733"/>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873023" y="5847082"/>
            <a:ext cx="6904442" cy="690444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28123" t="0" r="-22819" b="0"/>
              </a:stretch>
            </a:blipFill>
          </p:spPr>
        </p:sp>
      </p:grpSp>
      <p:sp>
        <p:nvSpPr>
          <p:cNvPr name="TextBox 7" id="7"/>
          <p:cNvSpPr txBox="true"/>
          <p:nvPr/>
        </p:nvSpPr>
        <p:spPr>
          <a:xfrm rot="0">
            <a:off x="5415157" y="172304"/>
            <a:ext cx="5083479" cy="983932"/>
          </a:xfrm>
          <a:prstGeom prst="rect">
            <a:avLst/>
          </a:prstGeom>
        </p:spPr>
        <p:txBody>
          <a:bodyPr anchor="t" rtlCol="false" tIns="0" lIns="0" bIns="0" rIns="0">
            <a:spAutoFit/>
          </a:bodyPr>
          <a:lstStyle/>
          <a:p>
            <a:pPr algn="ctr">
              <a:lnSpc>
                <a:spcPts val="4514"/>
              </a:lnSpc>
            </a:pPr>
            <a:r>
              <a:rPr lang="en-US" b="true" sz="4299" u="sng">
                <a:solidFill>
                  <a:srgbClr val="5C3421"/>
                </a:solidFill>
                <a:latin typeface="Canva Sans Bold"/>
                <a:ea typeface="Canva Sans Bold"/>
                <a:cs typeface="Canva Sans Bold"/>
                <a:sym typeface="Canva Sans Bold"/>
              </a:rPr>
              <a:t>Ключові інсайти</a:t>
            </a:r>
          </a:p>
          <a:p>
            <a:pPr algn="l">
              <a:lnSpc>
                <a:spcPts val="3150"/>
              </a:lnSpc>
            </a:pPr>
          </a:p>
        </p:txBody>
      </p:sp>
      <p:sp>
        <p:nvSpPr>
          <p:cNvPr name="TextBox 8" id="8"/>
          <p:cNvSpPr txBox="true"/>
          <p:nvPr/>
        </p:nvSpPr>
        <p:spPr>
          <a:xfrm rot="0">
            <a:off x="0" y="1481972"/>
            <a:ext cx="4449973" cy="2741035"/>
          </a:xfrm>
          <a:prstGeom prst="rect">
            <a:avLst/>
          </a:prstGeom>
        </p:spPr>
        <p:txBody>
          <a:bodyPr anchor="t" rtlCol="false" tIns="0" lIns="0" bIns="0" rIns="0">
            <a:spAutoFit/>
          </a:bodyPr>
          <a:lstStyle/>
          <a:p>
            <a:pPr algn="l" marL="423214" indent="-211607" lvl="1">
              <a:lnSpc>
                <a:spcPts val="2744"/>
              </a:lnSpc>
              <a:buFont typeface="Arial"/>
              <a:buChar char="•"/>
            </a:pPr>
            <a:r>
              <a:rPr lang="en-US" b="true" sz="1960">
                <a:solidFill>
                  <a:srgbClr val="000000"/>
                </a:solidFill>
                <a:latin typeface="Canva Sans Bold"/>
                <a:ea typeface="Canva Sans Bold"/>
                <a:cs typeface="Canva Sans Bold"/>
                <a:sym typeface="Canva Sans Bold"/>
              </a:rPr>
              <a:t>Великі замовлення дають непропорційно багато виручки</a:t>
            </a:r>
          </a:p>
          <a:p>
            <a:pPr algn="l">
              <a:lnSpc>
                <a:spcPts val="2744"/>
              </a:lnSpc>
            </a:pPr>
          </a:p>
          <a:p>
            <a:pPr algn="l">
              <a:lnSpc>
                <a:spcPts val="2744"/>
              </a:lnSpc>
              <a:spcBef>
                <a:spcPct val="0"/>
              </a:spcBef>
            </a:pPr>
            <a:r>
              <a:rPr lang="en-US" sz="1960">
                <a:solidFill>
                  <a:srgbClr val="000000"/>
                </a:solidFill>
                <a:latin typeface="Canva Sans"/>
                <a:ea typeface="Canva Sans"/>
                <a:cs typeface="Canva Sans"/>
                <a:sym typeface="Canva Sans"/>
              </a:rPr>
              <a:t>Замовлення з 4+ піцами становлять лише 18,17% чеків, але приносять 39,44% виручки (≈322 тис. із 817,9 тис.).</a:t>
            </a:r>
          </a:p>
        </p:txBody>
      </p:sp>
      <p:sp>
        <p:nvSpPr>
          <p:cNvPr name="TextBox 9" id="9"/>
          <p:cNvSpPr txBox="true"/>
          <p:nvPr/>
        </p:nvSpPr>
        <p:spPr>
          <a:xfrm rot="0">
            <a:off x="6600827" y="1481972"/>
            <a:ext cx="4449973" cy="1369435"/>
          </a:xfrm>
          <a:prstGeom prst="rect">
            <a:avLst/>
          </a:prstGeom>
        </p:spPr>
        <p:txBody>
          <a:bodyPr anchor="t" rtlCol="false" tIns="0" lIns="0" bIns="0" rIns="0">
            <a:spAutoFit/>
          </a:bodyPr>
          <a:lstStyle/>
          <a:p>
            <a:pPr algn="l" marL="423214" indent="-211607" lvl="1">
              <a:lnSpc>
                <a:spcPts val="2744"/>
              </a:lnSpc>
              <a:buFont typeface="Arial"/>
              <a:buChar char="•"/>
            </a:pPr>
            <a:r>
              <a:rPr lang="en-US" b="true" sz="1960">
                <a:solidFill>
                  <a:srgbClr val="000000"/>
                </a:solidFill>
                <a:latin typeface="Canva Sans Bold"/>
                <a:ea typeface="Canva Sans Bold"/>
                <a:cs typeface="Canva Sans Bold"/>
                <a:sym typeface="Canva Sans Bold"/>
              </a:rPr>
              <a:t>Попит нерівномірний у часі, а не по сезонах</a:t>
            </a:r>
          </a:p>
          <a:p>
            <a:pPr algn="l">
              <a:lnSpc>
                <a:spcPts val="2744"/>
              </a:lnSpc>
              <a:spcBef>
                <a:spcPct val="0"/>
              </a:spcBef>
            </a:pPr>
            <a:r>
              <a:rPr lang="en-US" sz="1960">
                <a:solidFill>
                  <a:srgbClr val="000000"/>
                </a:solidFill>
                <a:latin typeface="Canva Sans"/>
                <a:ea typeface="Canva Sans"/>
                <a:cs typeface="Canva Sans"/>
                <a:sym typeface="Canva Sans"/>
              </a:rPr>
              <a:t>Помісячна виручка коливається в межах 64,0–72,6 тис.</a:t>
            </a:r>
          </a:p>
        </p:txBody>
      </p:sp>
      <p:sp>
        <p:nvSpPr>
          <p:cNvPr name="TextBox 10" id="10"/>
          <p:cNvSpPr txBox="true"/>
          <p:nvPr/>
        </p:nvSpPr>
        <p:spPr>
          <a:xfrm rot="0">
            <a:off x="13428246" y="1481972"/>
            <a:ext cx="4449973" cy="1369435"/>
          </a:xfrm>
          <a:prstGeom prst="rect">
            <a:avLst/>
          </a:prstGeom>
        </p:spPr>
        <p:txBody>
          <a:bodyPr anchor="t" rtlCol="false" tIns="0" lIns="0" bIns="0" rIns="0">
            <a:spAutoFit/>
          </a:bodyPr>
          <a:lstStyle/>
          <a:p>
            <a:pPr algn="l" marL="423214" indent="-211607" lvl="1">
              <a:lnSpc>
                <a:spcPts val="2744"/>
              </a:lnSpc>
              <a:buFont typeface="Arial"/>
              <a:buChar char="•"/>
            </a:pPr>
            <a:r>
              <a:rPr lang="en-US" b="true" sz="1960">
                <a:solidFill>
                  <a:srgbClr val="000000"/>
                </a:solidFill>
                <a:latin typeface="Canva Sans Bold"/>
                <a:ea typeface="Canva Sans Bold"/>
                <a:cs typeface="Canva Sans Bold"/>
                <a:sym typeface="Canva Sans Bold"/>
              </a:rPr>
              <a:t>Виручку формують розміри </a:t>
            </a:r>
          </a:p>
          <a:p>
            <a:pPr algn="l">
              <a:lnSpc>
                <a:spcPts val="2744"/>
              </a:lnSpc>
            </a:pPr>
            <a:r>
              <a:rPr lang="en-US" sz="1960" b="true">
                <a:solidFill>
                  <a:srgbClr val="000000"/>
                </a:solidFill>
                <a:latin typeface="Canva Sans Bold"/>
                <a:ea typeface="Canva Sans Bold"/>
                <a:cs typeface="Canva Sans Bold"/>
                <a:sym typeface="Canva Sans Bold"/>
              </a:rPr>
              <a:t>       L і M</a:t>
            </a:r>
          </a:p>
          <a:p>
            <a:pPr algn="l">
              <a:lnSpc>
                <a:spcPts val="2744"/>
              </a:lnSpc>
              <a:spcBef>
                <a:spcPct val="0"/>
              </a:spcBef>
            </a:pPr>
            <a:r>
              <a:rPr lang="en-US" sz="1960">
                <a:solidFill>
                  <a:srgbClr val="000000"/>
                </a:solidFill>
                <a:latin typeface="Canva Sans"/>
                <a:ea typeface="Canva Sans"/>
                <a:cs typeface="Canva Sans"/>
                <a:sym typeface="Canva Sans"/>
              </a:rPr>
              <a:t>Розміри L (45,89%) та M (30,49%) дають разом ≈76% виручки.</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FFEDCF"/>
        </a:solidFill>
      </p:bgPr>
    </p:bg>
    <p:spTree>
      <p:nvGrpSpPr>
        <p:cNvPr id="1" name=""/>
        <p:cNvGrpSpPr/>
        <p:nvPr/>
      </p:nvGrpSpPr>
      <p:grpSpPr>
        <a:xfrm>
          <a:off x="0" y="0"/>
          <a:ext cx="0" cy="0"/>
          <a:chOff x="0" y="0"/>
          <a:chExt cx="0" cy="0"/>
        </a:xfrm>
      </p:grpSpPr>
      <p:sp>
        <p:nvSpPr>
          <p:cNvPr name="TextBox 2" id="2"/>
          <p:cNvSpPr txBox="true"/>
          <p:nvPr/>
        </p:nvSpPr>
        <p:spPr>
          <a:xfrm rot="0">
            <a:off x="5415157" y="172304"/>
            <a:ext cx="5083479" cy="983932"/>
          </a:xfrm>
          <a:prstGeom prst="rect">
            <a:avLst/>
          </a:prstGeom>
        </p:spPr>
        <p:txBody>
          <a:bodyPr anchor="t" rtlCol="false" tIns="0" lIns="0" bIns="0" rIns="0">
            <a:spAutoFit/>
          </a:bodyPr>
          <a:lstStyle/>
          <a:p>
            <a:pPr algn="ctr">
              <a:lnSpc>
                <a:spcPts val="4514"/>
              </a:lnSpc>
            </a:pPr>
            <a:r>
              <a:rPr lang="en-US" b="true" sz="4299" u="sng">
                <a:solidFill>
                  <a:srgbClr val="5C3421"/>
                </a:solidFill>
                <a:latin typeface="Canva Sans Bold"/>
                <a:ea typeface="Canva Sans Bold"/>
                <a:cs typeface="Canva Sans Bold"/>
                <a:sym typeface="Canva Sans Bold"/>
              </a:rPr>
              <a:t>Рекомендації</a:t>
            </a:r>
          </a:p>
          <a:p>
            <a:pPr algn="l">
              <a:lnSpc>
                <a:spcPts val="3150"/>
              </a:lnSpc>
            </a:pPr>
          </a:p>
        </p:txBody>
      </p:sp>
      <p:sp>
        <p:nvSpPr>
          <p:cNvPr name="TextBox 3" id="3"/>
          <p:cNvSpPr txBox="true"/>
          <p:nvPr/>
        </p:nvSpPr>
        <p:spPr>
          <a:xfrm rot="0">
            <a:off x="0" y="1491497"/>
            <a:ext cx="4809396" cy="8156739"/>
          </a:xfrm>
          <a:prstGeom prst="rect">
            <a:avLst/>
          </a:prstGeom>
        </p:spPr>
        <p:txBody>
          <a:bodyPr anchor="t" rtlCol="false" tIns="0" lIns="0" bIns="0" rIns="0">
            <a:spAutoFit/>
          </a:bodyPr>
          <a:lstStyle/>
          <a:p>
            <a:pPr algn="l">
              <a:lnSpc>
                <a:spcPts val="2965"/>
              </a:lnSpc>
            </a:pPr>
            <a:r>
              <a:rPr lang="en-US" sz="2118" b="true">
                <a:solidFill>
                  <a:srgbClr val="000000"/>
                </a:solidFill>
                <a:latin typeface="Canva Sans Bold"/>
                <a:ea typeface="Canva Sans Bold"/>
                <a:cs typeface="Canva Sans Bold"/>
                <a:sym typeface="Canva Sans Bold"/>
              </a:rPr>
              <a:t>Запустити окрему пропозицію для великих замовлень (4+ піци)</a:t>
            </a:r>
          </a:p>
          <a:p>
            <a:pPr algn="l">
              <a:lnSpc>
                <a:spcPts val="2965"/>
              </a:lnSpc>
            </a:pPr>
          </a:p>
          <a:p>
            <a:pPr algn="l" marL="457396" indent="-228698" lvl="1">
              <a:lnSpc>
                <a:spcPts val="2965"/>
              </a:lnSpc>
              <a:buFont typeface="Arial"/>
              <a:buChar char="•"/>
            </a:pPr>
            <a:r>
              <a:rPr lang="en-US" sz="2118" u="sng">
                <a:solidFill>
                  <a:srgbClr val="000000"/>
                </a:solidFill>
                <a:latin typeface="Canva Sans"/>
                <a:ea typeface="Canva Sans"/>
                <a:cs typeface="Canva Sans"/>
                <a:sym typeface="Canva Sans"/>
              </a:rPr>
              <a:t>Обґрунтування:</a:t>
            </a:r>
            <a:r>
              <a:rPr lang="en-US" sz="2118">
                <a:solidFill>
                  <a:srgbClr val="000000"/>
                </a:solidFill>
                <a:latin typeface="Canva Sans"/>
                <a:ea typeface="Canva Sans"/>
                <a:cs typeface="Canva Sans"/>
                <a:sym typeface="Canva Sans"/>
              </a:rPr>
              <a:t> такі замовлення становлять 18,17% чеків, але дають 39,44% виручки, тобто ≈322 тис. із 817,9 тис. Це найцінніший сегмент, і зараз для нього немає окремого стимулу.</a:t>
            </a:r>
          </a:p>
          <a:p>
            <a:pPr algn="l">
              <a:lnSpc>
                <a:spcPts val="2965"/>
              </a:lnSpc>
            </a:pPr>
          </a:p>
          <a:p>
            <a:pPr algn="l" marL="457396" indent="-228698" lvl="1">
              <a:lnSpc>
                <a:spcPts val="2965"/>
              </a:lnSpc>
              <a:spcBef>
                <a:spcPct val="0"/>
              </a:spcBef>
              <a:buFont typeface="Arial"/>
              <a:buChar char="•"/>
            </a:pPr>
            <a:r>
              <a:rPr lang="en-US" sz="2118" u="sng">
                <a:solidFill>
                  <a:srgbClr val="000000"/>
                </a:solidFill>
                <a:latin typeface="Canva Sans"/>
                <a:ea typeface="Canva Sans"/>
                <a:cs typeface="Canva Sans"/>
                <a:sym typeface="Canva Sans"/>
              </a:rPr>
              <a:t>Ефект:</a:t>
            </a:r>
            <a:r>
              <a:rPr lang="en-US" sz="2118">
                <a:solidFill>
                  <a:srgbClr val="000000"/>
                </a:solidFill>
                <a:latin typeface="Canva Sans"/>
                <a:ea typeface="Canva Sans"/>
                <a:cs typeface="Canva Sans"/>
                <a:sym typeface="Canva Sans"/>
              </a:rPr>
              <a:t> якщо пакет для компаній (наприклад, 4+ піци зі знижкою чи безкоштовним напоєм) збільшить виручку цього сегмента на 10%, це дасть ≈+32 тис., або ≈+3,9% до річної виручки. Це сценарна оцінка, а не факт. Вона також показує, що ефект від одного цього рішення більший, ніж від решти двох разом.</a:t>
            </a:r>
          </a:p>
        </p:txBody>
      </p:sp>
      <p:sp>
        <p:nvSpPr>
          <p:cNvPr name="TextBox 4" id="4"/>
          <p:cNvSpPr txBox="true"/>
          <p:nvPr/>
        </p:nvSpPr>
        <p:spPr>
          <a:xfrm rot="0">
            <a:off x="6600827" y="1491497"/>
            <a:ext cx="5129749" cy="8672570"/>
          </a:xfrm>
          <a:prstGeom prst="rect">
            <a:avLst/>
          </a:prstGeom>
        </p:spPr>
        <p:txBody>
          <a:bodyPr anchor="t" rtlCol="false" tIns="0" lIns="0" bIns="0" rIns="0">
            <a:spAutoFit/>
          </a:bodyPr>
          <a:lstStyle/>
          <a:p>
            <a:pPr algn="l" marL="466393" indent="-233196" lvl="1">
              <a:lnSpc>
                <a:spcPts val="3024"/>
              </a:lnSpc>
              <a:buFont typeface="Arial"/>
              <a:buChar char="•"/>
            </a:pPr>
            <a:r>
              <a:rPr lang="en-US" b="true" sz="2160">
                <a:solidFill>
                  <a:srgbClr val="000000"/>
                </a:solidFill>
                <a:latin typeface="Canva Sans Bold"/>
                <a:ea typeface="Canva Sans Bold"/>
                <a:cs typeface="Canva Sans Bold"/>
                <a:sym typeface="Canva Sans Bold"/>
              </a:rPr>
              <a:t>Акція «Пізні обіди» в будні (Пн–Чт, 14:00–16:00)</a:t>
            </a:r>
          </a:p>
          <a:p>
            <a:pPr algn="l">
              <a:lnSpc>
                <a:spcPts val="3024"/>
              </a:lnSpc>
            </a:pPr>
          </a:p>
          <a:p>
            <a:pPr algn="l" marL="423214" indent="-211607" lvl="1">
              <a:lnSpc>
                <a:spcPts val="2744"/>
              </a:lnSpc>
              <a:buFont typeface="Arial"/>
              <a:buChar char="•"/>
            </a:pPr>
            <a:r>
              <a:rPr lang="en-US" sz="1960" u="sng">
                <a:solidFill>
                  <a:srgbClr val="000000"/>
                </a:solidFill>
                <a:latin typeface="Canva Sans"/>
                <a:ea typeface="Canva Sans"/>
                <a:cs typeface="Canva Sans"/>
                <a:sym typeface="Canva Sans"/>
              </a:rPr>
              <a:t>Обґрунтування: </a:t>
            </a:r>
            <a:r>
              <a:rPr lang="en-US" sz="1960">
                <a:solidFill>
                  <a:srgbClr val="000000"/>
                </a:solidFill>
                <a:latin typeface="Canva Sans"/>
                <a:ea typeface="Canva Sans"/>
                <a:cs typeface="Canva Sans"/>
                <a:sym typeface="Canva Sans"/>
              </a:rPr>
              <a:t>це затишшя між обідним піком (12:00) і вечірнім (17:00–19:00). Кухня та персонал у цей час недозавантажені, тому додаткові замовлення не потребують додаткових витрат. Поточна виручка вікна становить 62 567,7.</a:t>
            </a:r>
          </a:p>
          <a:p>
            <a:pPr algn="l">
              <a:lnSpc>
                <a:spcPts val="2744"/>
              </a:lnSpc>
            </a:pPr>
          </a:p>
          <a:p>
            <a:pPr algn="l" marL="423214" indent="-211607" lvl="1">
              <a:lnSpc>
                <a:spcPts val="2744"/>
              </a:lnSpc>
              <a:spcBef>
                <a:spcPct val="0"/>
              </a:spcBef>
              <a:buFont typeface="Arial"/>
              <a:buChar char="•"/>
            </a:pPr>
            <a:r>
              <a:rPr lang="en-US" sz="1960" u="sng">
                <a:solidFill>
                  <a:srgbClr val="000000"/>
                </a:solidFill>
                <a:latin typeface="Canva Sans"/>
                <a:ea typeface="Canva Sans"/>
                <a:cs typeface="Canva Sans"/>
                <a:sym typeface="Canva Sans"/>
              </a:rPr>
              <a:t>Ефект: </a:t>
            </a:r>
            <a:r>
              <a:rPr lang="en-US" sz="1960">
                <a:solidFill>
                  <a:srgbClr val="000000"/>
                </a:solidFill>
                <a:latin typeface="Canva Sans"/>
                <a:ea typeface="Canva Sans"/>
                <a:cs typeface="Canva Sans"/>
                <a:sym typeface="Canva Sans"/>
              </a:rPr>
              <a:t>зростання на 10% дасть +6 256,77 (раз</a:t>
            </a:r>
            <a:r>
              <a:rPr lang="en-US" sz="1960">
                <a:solidFill>
                  <a:srgbClr val="000000"/>
                </a:solidFill>
                <a:latin typeface="Canva Sans"/>
                <a:ea typeface="Canva Sans"/>
                <a:cs typeface="Canva Sans"/>
                <a:sym typeface="Canva Sans"/>
              </a:rPr>
              <a:t>ом 68 824,47), що ≈+0,8% до річної виручки. Ефект невеликий, тож варто обережно обирати механіку. Знижка 15% на весь чек з'їсть значну частину приросту (для беззбитковості потрібне зростання виручки вікна ≈17,6%). Тому безкоштовний напій або знижка лише на другу піцу виглядає розумнішим вибором. Вечірню акцію «Вечеря на виніс» (+2 577,39) можна розглядати як другий етап, а не пріоритет.</a:t>
            </a:r>
          </a:p>
          <a:p>
            <a:pPr algn="l">
              <a:lnSpc>
                <a:spcPts val="2744"/>
              </a:lnSpc>
              <a:spcBef>
                <a:spcPct val="0"/>
              </a:spcBef>
            </a:pPr>
          </a:p>
        </p:txBody>
      </p:sp>
      <p:sp>
        <p:nvSpPr>
          <p:cNvPr name="TextBox 5" id="5"/>
          <p:cNvSpPr txBox="true"/>
          <p:nvPr/>
        </p:nvSpPr>
        <p:spPr>
          <a:xfrm rot="0">
            <a:off x="13428246" y="1491497"/>
            <a:ext cx="4449973" cy="7605770"/>
          </a:xfrm>
          <a:prstGeom prst="rect">
            <a:avLst/>
          </a:prstGeom>
        </p:spPr>
        <p:txBody>
          <a:bodyPr anchor="t" rtlCol="false" tIns="0" lIns="0" bIns="0" rIns="0">
            <a:spAutoFit/>
          </a:bodyPr>
          <a:lstStyle/>
          <a:p>
            <a:pPr algn="l" marL="466393" indent="-233196" lvl="1">
              <a:lnSpc>
                <a:spcPts val="3024"/>
              </a:lnSpc>
              <a:buFont typeface="Arial"/>
              <a:buChar char="•"/>
            </a:pPr>
            <a:r>
              <a:rPr lang="en-US" b="true" sz="2160">
                <a:solidFill>
                  <a:srgbClr val="000000"/>
                </a:solidFill>
                <a:latin typeface="Canva Sans Bold"/>
                <a:ea typeface="Canva Sans Bold"/>
                <a:cs typeface="Canva Sans Bold"/>
                <a:sym typeface="Canva Sans Bold"/>
              </a:rPr>
              <a:t>Скоротити «хвіст» меню: прибрати 3 позиції</a:t>
            </a:r>
          </a:p>
          <a:p>
            <a:pPr algn="l">
              <a:lnSpc>
                <a:spcPts val="2744"/>
              </a:lnSpc>
            </a:pPr>
          </a:p>
          <a:p>
            <a:pPr algn="l" marL="423214" indent="-211607" lvl="1">
              <a:lnSpc>
                <a:spcPts val="2744"/>
              </a:lnSpc>
              <a:buFont typeface="Arial"/>
              <a:buChar char="•"/>
            </a:pPr>
            <a:r>
              <a:rPr lang="en-US" sz="1960" u="sng">
                <a:solidFill>
                  <a:srgbClr val="000000"/>
                </a:solidFill>
                <a:latin typeface="Canva Sans"/>
                <a:ea typeface="Canva Sans"/>
                <a:cs typeface="Canva Sans"/>
                <a:sym typeface="Canva Sans"/>
              </a:rPr>
              <a:t>Обґрунтування:</a:t>
            </a:r>
            <a:r>
              <a:rPr lang="en-US" sz="1960">
                <a:solidFill>
                  <a:srgbClr val="000000"/>
                </a:solidFill>
                <a:latin typeface="Canva Sans"/>
                <a:ea typeface="Canva Sans"/>
                <a:cs typeface="Canva Sans"/>
                <a:sym typeface="Canva Sans"/>
              </a:rPr>
              <a:t> Brie Carre (490 шт.), Mediterranean (934 шт.) і Spinach Supreme (950 шт.) мають найнижчий попит. Brie Carre дає лише ≈1,4% виручки (11 588,5). Категорії розподілені майже порівну, тому прибрання цих позицій не залишить жодної категорії без вибору. Green Garden варт</a:t>
            </a:r>
            <a:r>
              <a:rPr lang="en-US" sz="1960">
                <a:solidFill>
                  <a:srgbClr val="000000"/>
                </a:solidFill>
                <a:latin typeface="Canva Sans"/>
                <a:ea typeface="Canva Sans"/>
                <a:cs typeface="Canva Sans"/>
                <a:sym typeface="Canva Sans"/>
              </a:rPr>
              <a:t>о залишити через вищу популярність.</a:t>
            </a:r>
          </a:p>
          <a:p>
            <a:pPr algn="l">
              <a:lnSpc>
                <a:spcPts val="2744"/>
              </a:lnSpc>
            </a:pPr>
          </a:p>
          <a:p>
            <a:pPr algn="l" marL="423214" indent="-211607" lvl="1">
              <a:lnSpc>
                <a:spcPts val="2744"/>
              </a:lnSpc>
              <a:buFont typeface="Arial"/>
              <a:buChar char="•"/>
            </a:pPr>
            <a:r>
              <a:rPr lang="en-US" sz="1960" u="sng">
                <a:solidFill>
                  <a:srgbClr val="000000"/>
                </a:solidFill>
                <a:latin typeface="Canva Sans"/>
                <a:ea typeface="Canva Sans"/>
                <a:cs typeface="Canva Sans"/>
                <a:sym typeface="Canva Sans"/>
              </a:rPr>
              <a:t>Ефект:</a:t>
            </a:r>
            <a:r>
              <a:rPr lang="en-US" sz="1960">
                <a:solidFill>
                  <a:srgbClr val="000000"/>
                </a:solidFill>
                <a:latin typeface="Canva Sans"/>
                <a:ea typeface="Canva Sans"/>
                <a:cs typeface="Canva Sans"/>
                <a:sym typeface="Canva Sans"/>
              </a:rPr>
              <a:t> Спрощення меню, закупівель інгредієнтів і роботи кухні при мінімальному ударі по виручці. Вилучення 3 позицій зачепить ≈5,2% виручки (≈42,2 тис. із 817,9 тис.)</a:t>
            </a:r>
          </a:p>
          <a:p>
            <a:pPr algn="l">
              <a:lnSpc>
                <a:spcPts val="2744"/>
              </a:lnSpc>
              <a:spcBef>
                <a:spcPct val="0"/>
              </a:spcBef>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FEDCF"/>
        </a:solidFill>
      </p:bgPr>
    </p:bg>
    <p:spTree>
      <p:nvGrpSpPr>
        <p:cNvPr id="1" name=""/>
        <p:cNvGrpSpPr/>
        <p:nvPr/>
      </p:nvGrpSpPr>
      <p:grpSpPr>
        <a:xfrm>
          <a:off x="0" y="0"/>
          <a:ext cx="0" cy="0"/>
          <a:chOff x="0" y="0"/>
          <a:chExt cx="0" cy="0"/>
        </a:xfrm>
      </p:grpSpPr>
      <p:grpSp>
        <p:nvGrpSpPr>
          <p:cNvPr name="Group 2" id="2"/>
          <p:cNvGrpSpPr/>
          <p:nvPr/>
        </p:nvGrpSpPr>
        <p:grpSpPr>
          <a:xfrm rot="0">
            <a:off x="-1278167" y="4889579"/>
            <a:ext cx="8226395" cy="822639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5733"/>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873023" y="5847082"/>
            <a:ext cx="6904442" cy="690444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28123" t="0" r="-22819" b="0"/>
              </a:stretch>
            </a:blipFill>
          </p:spPr>
        </p:sp>
      </p:grpSp>
      <p:sp>
        <p:nvSpPr>
          <p:cNvPr name="TextBox 7" id="7"/>
          <p:cNvSpPr txBox="true"/>
          <p:nvPr/>
        </p:nvSpPr>
        <p:spPr>
          <a:xfrm rot="0">
            <a:off x="137278" y="57150"/>
            <a:ext cx="13854353" cy="912495"/>
          </a:xfrm>
          <a:prstGeom prst="rect">
            <a:avLst/>
          </a:prstGeom>
        </p:spPr>
        <p:txBody>
          <a:bodyPr anchor="t" rtlCol="false" tIns="0" lIns="0" bIns="0" rIns="0">
            <a:spAutoFit/>
          </a:bodyPr>
          <a:lstStyle/>
          <a:p>
            <a:pPr algn="ctr">
              <a:lnSpc>
                <a:spcPts val="3989"/>
              </a:lnSpc>
            </a:pPr>
            <a:r>
              <a:rPr lang="en-US" sz="3799">
                <a:solidFill>
                  <a:srgbClr val="5C3421"/>
                </a:solidFill>
                <a:latin typeface="Canva Sans"/>
                <a:ea typeface="Canva Sans"/>
                <a:cs typeface="Canva Sans"/>
                <a:sym typeface="Canva Sans"/>
              </a:rPr>
              <a:t>Обмеження даних і наступні кроки</a:t>
            </a:r>
          </a:p>
          <a:p>
            <a:pPr algn="l">
              <a:lnSpc>
                <a:spcPts val="3150"/>
              </a:lnSpc>
            </a:pPr>
          </a:p>
        </p:txBody>
      </p:sp>
      <p:sp>
        <p:nvSpPr>
          <p:cNvPr name="TextBox 8" id="8"/>
          <p:cNvSpPr txBox="true"/>
          <p:nvPr/>
        </p:nvSpPr>
        <p:spPr>
          <a:xfrm rot="0">
            <a:off x="137278" y="1732137"/>
            <a:ext cx="8094793" cy="1934654"/>
          </a:xfrm>
          <a:prstGeom prst="rect">
            <a:avLst/>
          </a:prstGeom>
        </p:spPr>
        <p:txBody>
          <a:bodyPr anchor="t" rtlCol="false" tIns="0" lIns="0" bIns="0" rIns="0">
            <a:spAutoFit/>
          </a:bodyPr>
          <a:lstStyle/>
          <a:p>
            <a:pPr algn="l">
              <a:lnSpc>
                <a:spcPts val="3090"/>
              </a:lnSpc>
            </a:pPr>
            <a:r>
              <a:rPr lang="en-US" sz="2207" u="sng">
                <a:solidFill>
                  <a:srgbClr val="000000"/>
                </a:solidFill>
                <a:latin typeface="Canva Sans"/>
                <a:ea typeface="Canva Sans"/>
                <a:cs typeface="Canva Sans"/>
                <a:sym typeface="Canva Sans"/>
              </a:rPr>
              <a:t>Об</a:t>
            </a:r>
            <a:r>
              <a:rPr lang="en-US" sz="2207" u="sng">
                <a:solidFill>
                  <a:srgbClr val="000000"/>
                </a:solidFill>
                <a:latin typeface="Canva Sans"/>
                <a:ea typeface="Canva Sans"/>
                <a:cs typeface="Canva Sans"/>
                <a:sym typeface="Canva Sans"/>
              </a:rPr>
              <a:t>меження</a:t>
            </a:r>
          </a:p>
          <a:p>
            <a:pPr algn="l" marL="476607" indent="-238303" lvl="1">
              <a:lnSpc>
                <a:spcPts val="3090"/>
              </a:lnSpc>
              <a:buFont typeface="Arial"/>
              <a:buChar char="•"/>
            </a:pPr>
            <a:r>
              <a:rPr lang="en-US" sz="2207">
                <a:solidFill>
                  <a:srgbClr val="000000"/>
                </a:solidFill>
                <a:latin typeface="Canva Sans"/>
                <a:ea typeface="Canva Sans"/>
                <a:cs typeface="Canva Sans"/>
                <a:sym typeface="Canva Sans"/>
              </a:rPr>
              <a:t>Один рік, один заклад (2015).</a:t>
            </a:r>
          </a:p>
          <a:p>
            <a:pPr algn="l" marL="476607" indent="-238303" lvl="1">
              <a:lnSpc>
                <a:spcPts val="3090"/>
              </a:lnSpc>
              <a:spcBef>
                <a:spcPct val="0"/>
              </a:spcBef>
              <a:buFont typeface="Arial"/>
              <a:buChar char="•"/>
            </a:pPr>
            <a:r>
              <a:rPr lang="en-US" sz="2207">
                <a:solidFill>
                  <a:srgbClr val="000000"/>
                </a:solidFill>
                <a:latin typeface="Canva Sans"/>
                <a:ea typeface="Canva Sans"/>
                <a:cs typeface="Canva Sans"/>
                <a:sym typeface="Canva Sans"/>
              </a:rPr>
              <a:t>Лише виру</a:t>
            </a:r>
            <a:r>
              <a:rPr lang="en-US" sz="2207">
                <a:solidFill>
                  <a:srgbClr val="000000"/>
                </a:solidFill>
                <a:latin typeface="Canva Sans"/>
                <a:ea typeface="Canva Sans"/>
                <a:cs typeface="Canva Sans"/>
                <a:sym typeface="Canva Sans"/>
              </a:rPr>
              <a:t>чка за прайсом.</a:t>
            </a:r>
          </a:p>
          <a:p>
            <a:pPr algn="l" marL="476607" indent="-238303" lvl="1">
              <a:lnSpc>
                <a:spcPts val="3090"/>
              </a:lnSpc>
              <a:spcBef>
                <a:spcPct val="0"/>
              </a:spcBef>
              <a:buFont typeface="Arial"/>
              <a:buChar char="•"/>
            </a:pPr>
            <a:r>
              <a:rPr lang="en-US" sz="2207">
                <a:solidFill>
                  <a:srgbClr val="000000"/>
                </a:solidFill>
                <a:latin typeface="Canva Sans"/>
                <a:ea typeface="Canva Sans"/>
                <a:cs typeface="Canva Sans"/>
                <a:sym typeface="Canva Sans"/>
              </a:rPr>
              <a:t>Немає клієнта, каналу і складу групи.</a:t>
            </a:r>
          </a:p>
          <a:p>
            <a:pPr algn="l">
              <a:lnSpc>
                <a:spcPts val="3090"/>
              </a:lnSpc>
              <a:spcBef>
                <a:spcPct val="0"/>
              </a:spcBef>
            </a:pPr>
          </a:p>
        </p:txBody>
      </p:sp>
      <p:sp>
        <p:nvSpPr>
          <p:cNvPr name="TextBox 9" id="9"/>
          <p:cNvSpPr txBox="true"/>
          <p:nvPr/>
        </p:nvSpPr>
        <p:spPr>
          <a:xfrm rot="0">
            <a:off x="8876187" y="1732137"/>
            <a:ext cx="7187958" cy="3127750"/>
          </a:xfrm>
          <a:prstGeom prst="rect">
            <a:avLst/>
          </a:prstGeom>
        </p:spPr>
        <p:txBody>
          <a:bodyPr anchor="t" rtlCol="false" tIns="0" lIns="0" bIns="0" rIns="0">
            <a:spAutoFit/>
          </a:bodyPr>
          <a:lstStyle/>
          <a:p>
            <a:pPr algn="l">
              <a:lnSpc>
                <a:spcPts val="3164"/>
              </a:lnSpc>
            </a:pPr>
            <a:r>
              <a:rPr lang="en-US" sz="2260" u="sng">
                <a:solidFill>
                  <a:srgbClr val="000000"/>
                </a:solidFill>
                <a:latin typeface="Canva Sans"/>
                <a:ea typeface="Canva Sans"/>
                <a:cs typeface="Canva Sans"/>
                <a:sym typeface="Canva Sans"/>
              </a:rPr>
              <a:t>Наступ</a:t>
            </a:r>
            <a:r>
              <a:rPr lang="en-US" sz="2260" u="sng">
                <a:solidFill>
                  <a:srgbClr val="000000"/>
                </a:solidFill>
                <a:latin typeface="Canva Sans"/>
                <a:ea typeface="Canva Sans"/>
                <a:cs typeface="Canva Sans"/>
                <a:sym typeface="Canva Sans"/>
              </a:rPr>
              <a:t>ні кроки</a:t>
            </a:r>
          </a:p>
          <a:p>
            <a:pPr algn="l" marL="423214" indent="-211607" lvl="1">
              <a:lnSpc>
                <a:spcPts val="2744"/>
              </a:lnSpc>
              <a:buFont typeface="Arial"/>
              <a:buChar char="•"/>
            </a:pPr>
            <a:r>
              <a:rPr lang="en-US" sz="1960">
                <a:solidFill>
                  <a:srgbClr val="000000"/>
                </a:solidFill>
                <a:latin typeface="Canva Sans"/>
                <a:ea typeface="Canva Sans"/>
                <a:cs typeface="Canva Sans"/>
                <a:sym typeface="Canva Sans"/>
              </a:rPr>
              <a:t>Висновки базуються на одному році; сезонність потребує підтвердження даними за 2+ роки.</a:t>
            </a:r>
          </a:p>
          <a:p>
            <a:pPr algn="l" marL="423214" indent="-211607" lvl="1">
              <a:lnSpc>
                <a:spcPts val="2744"/>
              </a:lnSpc>
              <a:spcBef>
                <a:spcPct val="0"/>
              </a:spcBef>
              <a:buFont typeface="Arial"/>
              <a:buChar char="•"/>
            </a:pPr>
            <a:r>
              <a:rPr lang="en-US" sz="1960">
                <a:solidFill>
                  <a:srgbClr val="000000"/>
                </a:solidFill>
                <a:latin typeface="Canva Sans"/>
                <a:ea typeface="Canva Sans"/>
                <a:cs typeface="Canva Sans"/>
                <a:sym typeface="Canva Sans"/>
              </a:rPr>
              <a:t>Оцінк</a:t>
            </a:r>
            <a:r>
              <a:rPr lang="en-US" sz="1960">
                <a:solidFill>
                  <a:srgbClr val="000000"/>
                </a:solidFill>
                <a:latin typeface="Canva Sans"/>
                <a:ea typeface="Canva Sans"/>
                <a:cs typeface="Canva Sans"/>
                <a:sym typeface="Canva Sans"/>
              </a:rPr>
              <a:t>и ефекту наведено за виру</a:t>
            </a:r>
            <a:r>
              <a:rPr lang="en-US" sz="1960">
                <a:solidFill>
                  <a:srgbClr val="000000"/>
                </a:solidFill>
                <a:latin typeface="Canva Sans"/>
                <a:ea typeface="Canva Sans"/>
                <a:cs typeface="Canva Sans"/>
                <a:sym typeface="Canva Sans"/>
              </a:rPr>
              <a:t>чкою, а не за прибутком; для фінального рішення потрібна маржа.</a:t>
            </a:r>
          </a:p>
          <a:p>
            <a:pPr algn="l" marL="423214" indent="-211607" lvl="1">
              <a:lnSpc>
                <a:spcPts val="2744"/>
              </a:lnSpc>
              <a:spcBef>
                <a:spcPct val="0"/>
              </a:spcBef>
              <a:buFont typeface="Arial"/>
              <a:buChar char="•"/>
            </a:pPr>
            <a:r>
              <a:rPr lang="en-US" sz="1960">
                <a:solidFill>
                  <a:srgbClr val="000000"/>
                </a:solidFill>
                <a:latin typeface="Canva Sans"/>
                <a:ea typeface="Canva Sans"/>
                <a:cs typeface="Canva Sans"/>
                <a:sym typeface="Canva Sans"/>
              </a:rPr>
              <a:t>С</a:t>
            </a:r>
            <a:r>
              <a:rPr lang="en-US" sz="1960">
                <a:solidFill>
                  <a:srgbClr val="000000"/>
                </a:solidFill>
                <a:latin typeface="Canva Sans"/>
                <a:ea typeface="Canva Sans"/>
                <a:cs typeface="Canva Sans"/>
                <a:sym typeface="Canva Sans"/>
              </a:rPr>
              <a:t>егмент 4+ піци визначено за розміром замовлення, а не за типом клієнта; гіпотезу про компанії слід перевірити додатковими даними.</a:t>
            </a:r>
          </a:p>
          <a:p>
            <a:pPr algn="l">
              <a:lnSpc>
                <a:spcPts val="2744"/>
              </a:lnSpc>
              <a:spcBef>
                <a:spcPct val="0"/>
              </a:spcBef>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5400000">
            <a:off x="3529278" y="-344804"/>
            <a:ext cx="4319412" cy="11662415"/>
            <a:chOff x="0" y="0"/>
            <a:chExt cx="660400" cy="1783080"/>
          </a:xfrm>
        </p:grpSpPr>
        <p:sp>
          <p:nvSpPr>
            <p:cNvPr name="Freeform 4" id="4"/>
            <p:cNvSpPr/>
            <p:nvPr/>
          </p:nvSpPr>
          <p:spPr>
            <a:xfrm flipH="false" flipV="false" rot="0">
              <a:off x="0" y="0"/>
              <a:ext cx="660400" cy="1783080"/>
            </a:xfrm>
            <a:custGeom>
              <a:avLst/>
              <a:gdLst/>
              <a:ahLst/>
              <a:cxnLst/>
              <a:rect r="r" b="b" t="t" l="l"/>
              <a:pathLst>
                <a:path h="1783080" w="660400">
                  <a:moveTo>
                    <a:pt x="220252" y="1764011"/>
                  </a:moveTo>
                  <a:cubicBezTo>
                    <a:pt x="254109" y="1775525"/>
                    <a:pt x="292600" y="1783080"/>
                    <a:pt x="330378" y="1783080"/>
                  </a:cubicBezTo>
                  <a:cubicBezTo>
                    <a:pt x="368157" y="1783080"/>
                    <a:pt x="404509" y="1776603"/>
                    <a:pt x="438009" y="1765090"/>
                  </a:cubicBezTo>
                  <a:cubicBezTo>
                    <a:pt x="438723" y="1764730"/>
                    <a:pt x="439435" y="1764730"/>
                    <a:pt x="440148" y="1764371"/>
                  </a:cubicBezTo>
                  <a:cubicBezTo>
                    <a:pt x="565955" y="1718315"/>
                    <a:pt x="658618" y="1596701"/>
                    <a:pt x="660400" y="1433026"/>
                  </a:cubicBezTo>
                  <a:lnTo>
                    <a:pt x="660400" y="0"/>
                  </a:lnTo>
                  <a:lnTo>
                    <a:pt x="0" y="0"/>
                  </a:lnTo>
                  <a:lnTo>
                    <a:pt x="0" y="1431962"/>
                  </a:lnTo>
                  <a:cubicBezTo>
                    <a:pt x="1782" y="1597420"/>
                    <a:pt x="93019" y="1719035"/>
                    <a:pt x="220252" y="1764011"/>
                  </a:cubicBezTo>
                  <a:close/>
                </a:path>
              </a:pathLst>
            </a:custGeom>
            <a:solidFill>
              <a:srgbClr val="FA5733">
                <a:alpha val="62745"/>
              </a:srgbClr>
            </a:solidFill>
            <a:ln w="57150" cap="sq">
              <a:solidFill>
                <a:srgbClr val="000000">
                  <a:alpha val="62745"/>
                </a:srgbClr>
              </a:solidFill>
              <a:prstDash val="solid"/>
              <a:miter/>
            </a:ln>
          </p:spPr>
        </p:sp>
        <p:sp>
          <p:nvSpPr>
            <p:cNvPr name="TextBox 5" id="5"/>
            <p:cNvSpPr txBox="true"/>
            <p:nvPr/>
          </p:nvSpPr>
          <p:spPr>
            <a:xfrm>
              <a:off x="0" y="-38100"/>
              <a:ext cx="660400" cy="1694180"/>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0" y="3555412"/>
            <a:ext cx="13382631" cy="3334698"/>
          </a:xfrm>
          <a:prstGeom prst="rect">
            <a:avLst/>
          </a:prstGeom>
        </p:spPr>
        <p:txBody>
          <a:bodyPr anchor="t" rtlCol="false" tIns="0" lIns="0" bIns="0" rIns="0">
            <a:spAutoFit/>
          </a:bodyPr>
          <a:lstStyle/>
          <a:p>
            <a:pPr algn="l">
              <a:lnSpc>
                <a:spcPts val="7769"/>
              </a:lnSpc>
            </a:pPr>
            <a:r>
              <a:rPr lang="en-US" sz="7399">
                <a:solidFill>
                  <a:srgbClr val="FFEDCF"/>
                </a:solidFill>
                <a:latin typeface="Gulfs Display"/>
                <a:ea typeface="Gulfs Display"/>
                <a:cs typeface="Gulfs Display"/>
                <a:sym typeface="Gulfs Display"/>
              </a:rPr>
              <a:t>ДЯКУЮ ЗА УВАГУ!</a:t>
            </a:r>
          </a:p>
          <a:p>
            <a:pPr algn="l">
              <a:lnSpc>
                <a:spcPts val="3044"/>
              </a:lnSpc>
            </a:pPr>
          </a:p>
          <a:p>
            <a:pPr algn="l">
              <a:lnSpc>
                <a:spcPts val="3044"/>
              </a:lnSpc>
            </a:pPr>
            <a:r>
              <a:rPr lang="en-US" sz="2899">
                <a:solidFill>
                  <a:srgbClr val="FFEDCF"/>
                </a:solidFill>
                <a:latin typeface="Gulfs Display"/>
                <a:ea typeface="Gulfs Display"/>
                <a:cs typeface="Gulfs Display"/>
                <a:sym typeface="Gulfs Display"/>
              </a:rPr>
              <a:t>БУДУ РАДА ВАШИМ ЗАПИТАННЯМ</a:t>
            </a:r>
          </a:p>
          <a:p>
            <a:pPr algn="l">
              <a:lnSpc>
                <a:spcPts val="3044"/>
              </a:lnSpc>
            </a:pPr>
          </a:p>
          <a:p>
            <a:pPr algn="l">
              <a:lnSpc>
                <a:spcPts val="9134"/>
              </a:lnSpc>
            </a:pPr>
          </a:p>
        </p:txBody>
      </p:sp>
      <p:grpSp>
        <p:nvGrpSpPr>
          <p:cNvPr name="Group 7" id="7"/>
          <p:cNvGrpSpPr/>
          <p:nvPr/>
        </p:nvGrpSpPr>
        <p:grpSpPr>
          <a:xfrm rot="5400000">
            <a:off x="13430092" y="5429092"/>
            <a:ext cx="2625896" cy="7089920"/>
            <a:chOff x="0" y="0"/>
            <a:chExt cx="660400" cy="1783080"/>
          </a:xfrm>
        </p:grpSpPr>
        <p:sp>
          <p:nvSpPr>
            <p:cNvPr name="Freeform 8" id="8"/>
            <p:cNvSpPr/>
            <p:nvPr/>
          </p:nvSpPr>
          <p:spPr>
            <a:xfrm flipH="false" flipV="false" rot="0">
              <a:off x="0" y="0"/>
              <a:ext cx="660400" cy="1783080"/>
            </a:xfrm>
            <a:custGeom>
              <a:avLst/>
              <a:gdLst/>
              <a:ahLst/>
              <a:cxnLst/>
              <a:rect r="r" b="b" t="t" l="l"/>
              <a:pathLst>
                <a:path h="1783080" w="660400">
                  <a:moveTo>
                    <a:pt x="220252" y="1764011"/>
                  </a:moveTo>
                  <a:cubicBezTo>
                    <a:pt x="254109" y="1775525"/>
                    <a:pt x="292600" y="1783080"/>
                    <a:pt x="330378" y="1783080"/>
                  </a:cubicBezTo>
                  <a:cubicBezTo>
                    <a:pt x="368157" y="1783080"/>
                    <a:pt x="404509" y="1776603"/>
                    <a:pt x="438009" y="1765090"/>
                  </a:cubicBezTo>
                  <a:cubicBezTo>
                    <a:pt x="438723" y="1764730"/>
                    <a:pt x="439435" y="1764730"/>
                    <a:pt x="440148" y="1764371"/>
                  </a:cubicBezTo>
                  <a:cubicBezTo>
                    <a:pt x="565955" y="1718315"/>
                    <a:pt x="658618" y="1596701"/>
                    <a:pt x="660400" y="1433026"/>
                  </a:cubicBezTo>
                  <a:lnTo>
                    <a:pt x="660400" y="0"/>
                  </a:lnTo>
                  <a:lnTo>
                    <a:pt x="0" y="0"/>
                  </a:lnTo>
                  <a:lnTo>
                    <a:pt x="0" y="1431962"/>
                  </a:lnTo>
                  <a:cubicBezTo>
                    <a:pt x="1782" y="1597420"/>
                    <a:pt x="93019" y="1719035"/>
                    <a:pt x="220252" y="1764011"/>
                  </a:cubicBezTo>
                  <a:close/>
                </a:path>
              </a:pathLst>
            </a:custGeom>
            <a:solidFill>
              <a:srgbClr val="FA5733">
                <a:alpha val="62745"/>
              </a:srgbClr>
            </a:solidFill>
            <a:ln w="57150" cap="sq">
              <a:solidFill>
                <a:srgbClr val="000000">
                  <a:alpha val="62745"/>
                </a:srgbClr>
              </a:solidFill>
              <a:prstDash val="solid"/>
              <a:miter/>
            </a:ln>
          </p:spPr>
        </p:sp>
        <p:sp>
          <p:nvSpPr>
            <p:cNvPr name="TextBox 9" id="9"/>
            <p:cNvSpPr txBox="true"/>
            <p:nvPr/>
          </p:nvSpPr>
          <p:spPr>
            <a:xfrm>
              <a:off x="0" y="-38100"/>
              <a:ext cx="660400" cy="169418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11713414" y="7340474"/>
            <a:ext cx="6574586" cy="3333832"/>
          </a:xfrm>
          <a:prstGeom prst="rect">
            <a:avLst/>
          </a:prstGeom>
        </p:spPr>
        <p:txBody>
          <a:bodyPr anchor="t" rtlCol="false" tIns="0" lIns="0" bIns="0" rIns="0">
            <a:spAutoFit/>
          </a:bodyPr>
          <a:lstStyle/>
          <a:p>
            <a:pPr algn="l">
              <a:lnSpc>
                <a:spcPts val="4782"/>
              </a:lnSpc>
            </a:pPr>
          </a:p>
          <a:p>
            <a:pPr algn="l">
              <a:lnSpc>
                <a:spcPts val="1979"/>
              </a:lnSpc>
            </a:pPr>
            <a:r>
              <a:rPr lang="en-US" sz="1884" u="sng">
                <a:solidFill>
                  <a:srgbClr val="000000"/>
                </a:solidFill>
                <a:latin typeface="Alegreya Sans"/>
                <a:ea typeface="Alegreya Sans"/>
                <a:cs typeface="Alegreya Sans"/>
                <a:sym typeface="Alegreya Sans"/>
              </a:rPr>
              <a:t>КОНТАКТИ: </a:t>
            </a:r>
            <a:r>
              <a:rPr lang="en-US" sz="1884">
                <a:solidFill>
                  <a:srgbClr val="000000"/>
                </a:solidFill>
                <a:latin typeface="Alegreya Sans"/>
                <a:ea typeface="Alegreya Sans"/>
                <a:cs typeface="Alegreya Sans"/>
                <a:sym typeface="Alegreya Sans"/>
              </a:rPr>
              <a:t>EMAIL: </a:t>
            </a:r>
            <a:r>
              <a:rPr lang="en-US" sz="1884" b="true">
                <a:solidFill>
                  <a:srgbClr val="000000"/>
                </a:solidFill>
                <a:latin typeface="Alegreya Sans Bold"/>
                <a:ea typeface="Alegreya Sans Bold"/>
                <a:cs typeface="Alegreya Sans Bold"/>
                <a:sym typeface="Alegreya Sans Bold"/>
              </a:rPr>
              <a:t>KARPUKNADYA106@GMAIL.COM</a:t>
            </a:r>
          </a:p>
          <a:p>
            <a:pPr algn="l">
              <a:lnSpc>
                <a:spcPts val="1979"/>
              </a:lnSpc>
            </a:pPr>
            <a:r>
              <a:rPr lang="en-US" sz="1884" b="true">
                <a:solidFill>
                  <a:srgbClr val="000000"/>
                </a:solidFill>
                <a:latin typeface="Alegreya Sans Bold"/>
                <a:ea typeface="Alegreya Sans Bold"/>
                <a:cs typeface="Alegreya Sans Bold"/>
                <a:sym typeface="Alegreya Sans Bold"/>
              </a:rPr>
              <a:t>GITHUB: </a:t>
            </a:r>
            <a:r>
              <a:rPr lang="en-US" sz="1884">
                <a:solidFill>
                  <a:srgbClr val="000000"/>
                </a:solidFill>
                <a:latin typeface="Alegreya Sans"/>
                <a:ea typeface="Alegreya Sans"/>
                <a:cs typeface="Alegreya Sans"/>
                <a:sym typeface="Alegreya Sans"/>
              </a:rPr>
              <a:t>HTTPS://GITHUB.COM/NADIAKARPUK/PIZZA-SALES-ANALYSIS.GIT</a:t>
            </a:r>
          </a:p>
          <a:p>
            <a:pPr algn="l">
              <a:lnSpc>
                <a:spcPts val="1979"/>
              </a:lnSpc>
            </a:pPr>
            <a:r>
              <a:rPr lang="en-US" sz="1884" b="true">
                <a:solidFill>
                  <a:srgbClr val="000000"/>
                </a:solidFill>
                <a:latin typeface="Alegreya Sans Bold"/>
                <a:ea typeface="Alegreya Sans Bold"/>
                <a:cs typeface="Alegreya Sans Bold"/>
                <a:sym typeface="Alegreya Sans Bold"/>
              </a:rPr>
              <a:t>TABLEAU PUBLIC:</a:t>
            </a:r>
            <a:r>
              <a:rPr lang="en-US" sz="1884">
                <a:solidFill>
                  <a:srgbClr val="000000"/>
                </a:solidFill>
                <a:latin typeface="Alegreya Sans"/>
                <a:ea typeface="Alegreya Sans"/>
                <a:cs typeface="Alegreya Sans"/>
                <a:sym typeface="Alegreya Sans"/>
              </a:rPr>
              <a:t> HTTPS://PUBLIC.TABLEAU.COM/VIEWS/PIZZA_DASHBOARD_17906909650890/KPI?:LANGUAGE=EN-US&amp;:SID=&amp;:REDIRECT=AUTH&amp;:DISPLAY_COUNT=N&amp;:ORIGIN=VIZ_SHARE_LINK</a:t>
            </a:r>
          </a:p>
          <a:p>
            <a:pPr algn="l">
              <a:lnSpc>
                <a:spcPts val="5726"/>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DAHXqzD8N00</dc:identifier>
  <dcterms:modified xsi:type="dcterms:W3CDTF">2011-08-01T06:04:30Z</dcterms:modified>
  <cp:revision>1</cp:revision>
  <dc:title>автор: Карпук Надія</dc:title>
</cp:coreProperties>
</file>